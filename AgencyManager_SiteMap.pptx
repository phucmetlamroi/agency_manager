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914400"/>
            <a:ext cx="10058400" cy="51206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914400"/>
            <a:ext cx="100584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508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1645920" y="2560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Toan bo cau truc he thong — Routes, Pages, APIs &amp; Components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45920" y="3154680"/>
            <a:ext cx="594360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3101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64592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/ Routes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33101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4612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33101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84632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33101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44652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33101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04672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46920" y="33101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646920" y="38770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Ngon ngu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 |  Next.js 15  |  Prisma 5.22  |  Neon PostgreSQL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607040" y="118872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44784" y="118872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Shape 22"/>
          <p:cNvSpPr/>
          <p:nvPr/>
        </p:nvSpPr>
        <p:spPr>
          <a:xfrm>
            <a:off x="11082528" y="118872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20272" y="1188720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6" name="Shape 24"/>
          <p:cNvSpPr/>
          <p:nvPr/>
        </p:nvSpPr>
        <p:spPr>
          <a:xfrm>
            <a:off x="11558016" y="1188720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07040" y="142646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44784" y="142646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82528" y="1426464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20272" y="1426464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31" name="Shape 29"/>
          <p:cNvSpPr/>
          <p:nvPr/>
        </p:nvSpPr>
        <p:spPr>
          <a:xfrm>
            <a:off x="11558016" y="1426464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07040" y="1664208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44784" y="1664208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4" name="Shape 32"/>
          <p:cNvSpPr/>
          <p:nvPr/>
        </p:nvSpPr>
        <p:spPr>
          <a:xfrm>
            <a:off x="11082528" y="1664208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35" name="Shape 33"/>
          <p:cNvSpPr/>
          <p:nvPr/>
        </p:nvSpPr>
        <p:spPr>
          <a:xfrm>
            <a:off x="11320272" y="1664208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58016" y="1664208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07040" y="1901952"/>
            <a:ext cx="91440" cy="914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8" name="Shape 36"/>
          <p:cNvSpPr/>
          <p:nvPr/>
        </p:nvSpPr>
        <p:spPr>
          <a:xfrm>
            <a:off x="10844784" y="1901952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39" name="Shape 37"/>
          <p:cNvSpPr/>
          <p:nvPr/>
        </p:nvSpPr>
        <p:spPr>
          <a:xfrm>
            <a:off x="11082528" y="1901952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20272" y="1901952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41" name="Shape 39"/>
          <p:cNvSpPr/>
          <p:nvPr/>
        </p:nvSpPr>
        <p:spPr>
          <a:xfrm>
            <a:off x="11558016" y="1901952"/>
            <a:ext cx="91440" cy="91440"/>
          </a:xfrm>
          <a:prstGeom prst="ellipse">
            <a:avLst/>
          </a:prstGeom>
          <a:solidFill>
            <a:srgbClr val="484F58"/>
          </a:solidFill>
          <a:ln/>
        </p:spPr>
      </p:sp>
      <p:sp>
        <p:nvSpPr>
          <p:cNvPr id="42" name="Shape 40"/>
          <p:cNvSpPr/>
          <p:nvPr/>
        </p:nvSpPr>
        <p:spPr>
          <a:xfrm>
            <a:off x="1645920" y="59893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1C1F24"/>
          </a:solidFill>
          <a:ln w="889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37360" y="6062472"/>
            <a:ext cx="128016" cy="12801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4" name="Text 42"/>
          <p:cNvSpPr/>
          <p:nvPr/>
        </p:nvSpPr>
        <p:spPr>
          <a:xfrm>
            <a:off x="1920240" y="5989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Entry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59893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1A0C30"/>
          </a:solidFill>
          <a:ln w="8890">
            <a:solidFill>
              <a:srgbClr val="A855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0" y="6062472"/>
            <a:ext cx="128016" cy="12801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0" y="5989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59893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C1829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6062472"/>
            <a:ext cx="128016" cy="12801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50" name="Text 48"/>
          <p:cNvSpPr/>
          <p:nvPr/>
        </p:nvSpPr>
        <p:spPr>
          <a:xfrm>
            <a:off x="5394960" y="5989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59893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71A1F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49440" y="606247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3" name="Text 51"/>
          <p:cNvSpPr/>
          <p:nvPr/>
        </p:nvSpPr>
        <p:spPr>
          <a:xfrm>
            <a:off x="7132320" y="5989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595360" y="59893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61812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86800" y="606247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6" name="Text 54"/>
          <p:cNvSpPr/>
          <p:nvPr/>
        </p:nvSpPr>
        <p:spPr>
          <a:xfrm>
            <a:off x="8869680" y="5989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332720" y="598932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1C1207"/>
          </a:solidFill>
          <a:ln w="8890">
            <a:solidFill>
              <a:srgbClr val="F9731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24160" y="6062472"/>
            <a:ext cx="128016" cy="128016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9" name="Text 57"/>
          <p:cNvSpPr/>
          <p:nvPr/>
        </p:nvSpPr>
        <p:spPr>
          <a:xfrm>
            <a:off x="10607040" y="5989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  SITE 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khu vuc chinh — Role-gated — Entry points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2971800" cy="5486400"/>
          </a:xfrm>
          <a:prstGeom prst="rect">
            <a:avLst/>
          </a:prstGeom>
          <a:solidFill>
            <a:srgbClr val="1C1F24"/>
          </a:solidFill>
          <a:ln w="1524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22960"/>
            <a:ext cx="2971800" cy="6400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" y="950976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ENTRY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" y="126187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 nhap, chon Profile, 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6616" y="1536192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8B949E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" y="15361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6616" y="153619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" y="1865376"/>
            <a:ext cx="2715768" cy="0"/>
          </a:xfrm>
          <a:prstGeom prst="line">
            <a:avLst/>
          </a:prstGeom>
          <a:noFill/>
          <a:ln w="508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" y="1975104"/>
            <a:ext cx="64008" cy="20116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96596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2167128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redirect den /login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56616" y="2368296"/>
            <a:ext cx="64008" cy="20116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35915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560320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dang nhap (Username/Password)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56616" y="2761488"/>
            <a:ext cx="64008" cy="20116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752344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2953512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Profile / Team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56616" y="3154680"/>
            <a:ext cx="64008" cy="20116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145536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/workspace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346704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Workspace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56616" y="3547872"/>
            <a:ext cx="64008" cy="20116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538728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/user-agreement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739896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 nhan Dieu Khoan Su dung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29000" y="822960"/>
            <a:ext cx="2971800" cy="5486400"/>
          </a:xfrm>
          <a:prstGeom prst="rect">
            <a:avLst/>
          </a:prstGeom>
          <a:solidFill>
            <a:srgbClr val="1A0C30"/>
          </a:solidFill>
          <a:ln w="1524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29000" y="822960"/>
            <a:ext cx="297180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3557016" y="950976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557016" y="126187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tri toan bo he thong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57016" y="1536192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</p:spPr>
      </p:sp>
      <p:sp>
        <p:nvSpPr>
          <p:cNvPr id="35" name="Text 33"/>
          <p:cNvSpPr/>
          <p:nvPr/>
        </p:nvSpPr>
        <p:spPr>
          <a:xfrm>
            <a:off x="3557016" y="15361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57016" y="1536192"/>
            <a:ext cx="271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trang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57016" y="1865376"/>
            <a:ext cx="2715768" cy="0"/>
          </a:xfrm>
          <a:prstGeom prst="line">
            <a:avLst/>
          </a:prstGeom>
          <a:noFill/>
          <a:ln w="5080">
            <a:solidFill>
              <a:srgbClr val="A85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57016" y="1975104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9" name="Text 37"/>
          <p:cNvSpPr/>
          <p:nvPr/>
        </p:nvSpPr>
        <p:spPr>
          <a:xfrm>
            <a:off x="3703320" y="196596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03320" y="2167128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(Hub chinh)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557016" y="2368296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3703320" y="235915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/admin/queue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703320" y="2560320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+ Marketplace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557016" y="2761488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5" name="Text 43"/>
          <p:cNvSpPr/>
          <p:nvPr/>
        </p:nvSpPr>
        <p:spPr>
          <a:xfrm>
            <a:off x="3703320" y="2752344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/admin/crm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703320" y="2953512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ly Khach hang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557016" y="3154680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8" name="Text 46"/>
          <p:cNvSpPr/>
          <p:nvPr/>
        </p:nvSpPr>
        <p:spPr>
          <a:xfrm>
            <a:off x="3703320" y="3145536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/admin/crm/[id]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703320" y="3346704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tiet Khach hang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557016" y="3547872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1" name="Text 49"/>
          <p:cNvSpPr/>
          <p:nvPr/>
        </p:nvSpPr>
        <p:spPr>
          <a:xfrm>
            <a:off x="3703320" y="3538728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/admin/users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703320" y="3739896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ly Nhan su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557016" y="3941064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4" name="Text 52"/>
          <p:cNvSpPr/>
          <p:nvPr/>
        </p:nvSpPr>
        <p:spPr>
          <a:xfrm>
            <a:off x="3703320" y="393192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/admin/schedule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703320" y="4133088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 lam viec (Read-only)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557016" y="4334256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7" name="Text 55"/>
          <p:cNvSpPr/>
          <p:nvPr/>
        </p:nvSpPr>
        <p:spPr>
          <a:xfrm>
            <a:off x="3703320" y="432511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/admin/finance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703320" y="4526280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chinh  ★ TREASURER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557016" y="4727448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0" name="Text 58"/>
          <p:cNvSpPr/>
          <p:nvPr/>
        </p:nvSpPr>
        <p:spPr>
          <a:xfrm>
            <a:off x="3703320" y="4718304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/admin/payroll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703320" y="4919472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&amp; Bonus  ★ TREASURER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557016" y="5120640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3" name="Text 61"/>
          <p:cNvSpPr/>
          <p:nvPr/>
        </p:nvSpPr>
        <p:spPr>
          <a:xfrm>
            <a:off x="3703320" y="5111496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/admin/performance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703320" y="5312664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 cao Performance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557016" y="5513832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6" name="Text 64"/>
          <p:cNvSpPr/>
          <p:nvPr/>
        </p:nvSpPr>
        <p:spPr>
          <a:xfrm>
            <a:off x="3703320" y="5504688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/admin/analytics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703320" y="5705856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557016" y="5907024"/>
            <a:ext cx="64008" cy="2011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9" name="Text 67"/>
          <p:cNvSpPr/>
          <p:nvPr/>
        </p:nvSpPr>
        <p:spPr>
          <a:xfrm>
            <a:off x="3703320" y="5897880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/admin/analytics/staff/[id]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703320" y="6099048"/>
            <a:ext cx="2569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tiet loi nhan vien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629400" y="822960"/>
            <a:ext cx="2560320" cy="5486400"/>
          </a:xfrm>
          <a:prstGeom prst="rect">
            <a:avLst/>
          </a:prstGeom>
          <a:solidFill>
            <a:srgbClr val="0C1829"/>
          </a:solidFill>
          <a:ln w="1524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629400" y="822960"/>
            <a:ext cx="2560320" cy="6400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3" name="Text 71"/>
          <p:cNvSpPr/>
          <p:nvPr/>
        </p:nvSpPr>
        <p:spPr>
          <a:xfrm>
            <a:off x="6757416" y="950976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DASH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6757416" y="126187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 vien lam viec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757416" y="1536192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60A5FA"/>
          </a:solidFill>
          <a:ln/>
        </p:spPr>
      </p:sp>
      <p:sp>
        <p:nvSpPr>
          <p:cNvPr id="76" name="Text 74"/>
          <p:cNvSpPr/>
          <p:nvPr/>
        </p:nvSpPr>
        <p:spPr>
          <a:xfrm>
            <a:off x="6757416" y="15361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757416" y="153619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trang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757416" y="1865376"/>
            <a:ext cx="2304288" cy="0"/>
          </a:xfrm>
          <a:prstGeom prst="line">
            <a:avLst/>
          </a:prstGeom>
          <a:noFill/>
          <a:ln w="5080">
            <a:solidFill>
              <a:srgbClr val="3B82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57416" y="1975104"/>
            <a:ext cx="64008" cy="2011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0" name="Text 78"/>
          <p:cNvSpPr/>
          <p:nvPr/>
        </p:nvSpPr>
        <p:spPr>
          <a:xfrm>
            <a:off x="6903720" y="196596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903720" y="216712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chinh (Salary, Rank, Tasks)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757416" y="2368296"/>
            <a:ext cx="64008" cy="2011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3" name="Text 81"/>
          <p:cNvSpPr/>
          <p:nvPr/>
        </p:nvSpPr>
        <p:spPr>
          <a:xfrm>
            <a:off x="6903720" y="235915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/dashboard/profile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903720" y="256032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Cai dat ca nhan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757416" y="2761488"/>
            <a:ext cx="64008" cy="2011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6" name="Text 84"/>
          <p:cNvSpPr/>
          <p:nvPr/>
        </p:nvSpPr>
        <p:spPr>
          <a:xfrm>
            <a:off x="6903720" y="275234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/dashboard/schedule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903720" y="2953512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 lam viec ca nhan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757416" y="3154680"/>
            <a:ext cx="64008" cy="20116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9" name="Text 87"/>
          <p:cNvSpPr/>
          <p:nvPr/>
        </p:nvSpPr>
        <p:spPr>
          <a:xfrm>
            <a:off x="6903720" y="314553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/dashboard/errors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903720" y="33467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 su vi pham / loi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9418320" y="822960"/>
            <a:ext cx="2514600" cy="5486400"/>
          </a:xfrm>
          <a:prstGeom prst="rect">
            <a:avLst/>
          </a:prstGeom>
          <a:solidFill>
            <a:srgbClr val="071A1F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9418320" y="822960"/>
            <a:ext cx="2514600" cy="640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3" name="Text 91"/>
          <p:cNvSpPr/>
          <p:nvPr/>
        </p:nvSpPr>
        <p:spPr>
          <a:xfrm>
            <a:off x="9546336" y="950976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9546336" y="1261872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Khach hang xem trang thai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9546336" y="1536192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/>
        </p:spPr>
      </p:sp>
      <p:sp>
        <p:nvSpPr>
          <p:cNvPr id="96" name="Text 94"/>
          <p:cNvSpPr/>
          <p:nvPr/>
        </p:nvSpPr>
        <p:spPr>
          <a:xfrm>
            <a:off x="9546336" y="15361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ROLE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9546336" y="1536192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trang (+locale)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9546336" y="1865376"/>
            <a:ext cx="2258568" cy="0"/>
          </a:xfrm>
          <a:prstGeom prst="line">
            <a:avLst/>
          </a:prstGeom>
          <a:noFill/>
          <a:ln w="5080">
            <a:solidFill>
              <a:srgbClr val="06B6D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546336" y="1975104"/>
            <a:ext cx="64008" cy="2011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0" name="Text 98"/>
          <p:cNvSpPr/>
          <p:nvPr/>
        </p:nvSpPr>
        <p:spPr>
          <a:xfrm>
            <a:off x="9692640" y="1965960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/portal/[locale]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9692640" y="2167128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Workspace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9546336" y="2368296"/>
            <a:ext cx="64008" cy="2011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3" name="Text 101"/>
          <p:cNvSpPr/>
          <p:nvPr/>
        </p:nvSpPr>
        <p:spPr>
          <a:xfrm>
            <a:off x="9692640" y="2359152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/portal/.../tasks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9692640" y="2560320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Task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9546336" y="2761488"/>
            <a:ext cx="64008" cy="2011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6" name="Text 104"/>
          <p:cNvSpPr/>
          <p:nvPr/>
        </p:nvSpPr>
        <p:spPr>
          <a:xfrm>
            <a:off x="9692640" y="275234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/portal/.../tasks/[id]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9692640" y="295351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tiet Task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9546336" y="3154680"/>
            <a:ext cx="64008" cy="20116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9" name="Text 107"/>
          <p:cNvSpPr/>
          <p:nvPr/>
        </p:nvSpPr>
        <p:spPr>
          <a:xfrm>
            <a:off x="9692640" y="3145536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/portal/.../invoices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9692640" y="3346704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sach Invoice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28600" y="6446520"/>
            <a:ext cx="11704320" cy="292608"/>
          </a:xfrm>
          <a:prstGeom prst="rect">
            <a:avLst/>
          </a:prstGeom>
          <a:solidFill>
            <a:srgbClr val="06181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6576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/api/*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15544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/api/logout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26974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/api/role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38404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/api/profile/select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49834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/api/time</a:t>
            </a:r>
            <a:endParaRPr lang="en-US" sz="750" dirty="0"/>
          </a:p>
        </p:txBody>
      </p:sp>
      <p:sp>
        <p:nvSpPr>
          <p:cNvPr id="117" name="Text 115"/>
          <p:cNvSpPr/>
          <p:nvPr/>
        </p:nvSpPr>
        <p:spPr>
          <a:xfrm>
            <a:off x="61264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/api/exchange-rate</a:t>
            </a:r>
            <a:endParaRPr lang="en-US" sz="750" dirty="0"/>
          </a:p>
        </p:txBody>
      </p:sp>
      <p:sp>
        <p:nvSpPr>
          <p:cNvPr id="118" name="Text 116"/>
          <p:cNvSpPr/>
          <p:nvPr/>
        </p:nvSpPr>
        <p:spPr>
          <a:xfrm>
            <a:off x="72694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/api/invoices/generate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84124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/api/invoices/[id]/download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95554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/api/exports/xlsx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10698480" y="6492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/api/cron/deadline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  SITE 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ENTRY 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dang nhap -&gt; Middleware -&gt; Role-based routing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66360" y="868680"/>
            <a:ext cx="1828800" cy="594360"/>
          </a:xfrm>
          <a:prstGeom prst="rect">
            <a:avLst/>
          </a:prstGeom>
          <a:solidFill>
            <a:srgbClr val="1C1F24"/>
          </a:solidFill>
          <a:ln w="2032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66360" y="868680"/>
            <a:ext cx="1828800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9" name="Text 7"/>
          <p:cNvSpPr/>
          <p:nvPr/>
        </p:nvSpPr>
        <p:spPr>
          <a:xfrm>
            <a:off x="5239512" y="923544"/>
            <a:ext cx="168249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39512" y="1165860"/>
            <a:ext cx="168249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dang nhap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8660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2560320" cy="2011680"/>
          </a:xfrm>
          <a:prstGeom prst="rect">
            <a:avLst/>
          </a:prstGeom>
          <a:solidFill>
            <a:srgbClr val="21262D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74520"/>
            <a:ext cx="256032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65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GUARDS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Unauth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91640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/login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CLIENT role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2606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/portal/en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9077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ToS accepted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29077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/user-agreement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2095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Profile selected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32095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/profile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JWT Error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35112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cookie + /login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80760" y="1463040"/>
            <a:ext cx="0" cy="237744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1700784"/>
            <a:ext cx="411480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1700784"/>
            <a:ext cx="0" cy="237744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938528"/>
            <a:ext cx="1645920" cy="594360"/>
          </a:xfrm>
          <a:prstGeom prst="rect">
            <a:avLst/>
          </a:prstGeom>
          <a:solidFill>
            <a:srgbClr val="1C1F24"/>
          </a:solidFill>
          <a:ln w="1016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1993392"/>
            <a:ext cx="14996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/user-agreement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73552" y="2235708"/>
            <a:ext cx="149961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 nhan Dieu Khoan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80760" y="1700784"/>
            <a:ext cx="0" cy="237744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57800" y="1938528"/>
            <a:ext cx="1645920" cy="594360"/>
          </a:xfrm>
          <a:prstGeom prst="rect">
            <a:avLst/>
          </a:prstGeom>
          <a:solidFill>
            <a:srgbClr val="1C1F24"/>
          </a:solidFill>
          <a:ln w="1016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0952" y="1993392"/>
            <a:ext cx="14996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30952" y="2235708"/>
            <a:ext cx="149961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Profile / Team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138160" y="1700784"/>
            <a:ext cx="0" cy="237744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0" y="1938528"/>
            <a:ext cx="1645920" cy="594360"/>
          </a:xfrm>
          <a:prstGeom prst="rect">
            <a:avLst/>
          </a:prstGeom>
          <a:solidFill>
            <a:srgbClr val="1C1F24"/>
          </a:solidFill>
          <a:ln w="1016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1993392"/>
            <a:ext cx="14996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/workspace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88352" y="2235708"/>
            <a:ext cx="149961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Workspace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291840" y="25877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buoc lan dau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49240" y="25877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nhieu team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06640" y="25877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chon Profile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38160" y="2532888"/>
            <a:ext cx="0" cy="470916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3003804"/>
            <a:ext cx="4754880" cy="0"/>
          </a:xfrm>
          <a:prstGeom prst="line">
            <a:avLst/>
          </a:prstGeom>
          <a:noFill/>
          <a:ln w="9525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60720" y="3003804"/>
            <a:ext cx="0" cy="470916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00600" y="3474720"/>
            <a:ext cx="1920240" cy="594360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3752" y="3529584"/>
            <a:ext cx="177393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/[workspaceId]/admin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73752" y="3771900"/>
            <a:ext cx="17739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983480" y="4160520"/>
            <a:ext cx="1280160" cy="201168"/>
          </a:xfrm>
          <a:prstGeom prst="roundRect">
            <a:avLst>
              <a:gd name="adj" fmla="val 13636"/>
            </a:avLst>
          </a:prstGeom>
          <a:solidFill>
            <a:srgbClr val="A855F7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138160" y="3003804"/>
            <a:ext cx="0" cy="470916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78040" y="3474720"/>
            <a:ext cx="1920240" cy="594360"/>
          </a:xfrm>
          <a:prstGeom prst="rect">
            <a:avLst/>
          </a:prstGeom>
          <a:solidFill>
            <a:srgbClr val="0C1829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51192" y="3529584"/>
            <a:ext cx="177393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/[workspaceId]/dashboard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251192" y="3771900"/>
            <a:ext cx="17739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Dashboard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360920" y="4160520"/>
            <a:ext cx="1280160" cy="201168"/>
          </a:xfrm>
          <a:prstGeom prst="roundRect">
            <a:avLst>
              <a:gd name="adj" fmla="val 13636"/>
            </a:avLst>
          </a:prstGeom>
          <a:solidFill>
            <a:srgbClr val="60A5FA"/>
          </a:solidFill>
          <a:ln/>
        </p:spPr>
      </p:sp>
      <p:sp>
        <p:nvSpPr>
          <p:cNvPr id="55" name="Text 53"/>
          <p:cNvSpPr/>
          <p:nvPr/>
        </p:nvSpPr>
        <p:spPr>
          <a:xfrm>
            <a:off x="7360920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0515600" y="3003804"/>
            <a:ext cx="0" cy="470916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555480" y="3474720"/>
            <a:ext cx="1920240" cy="594360"/>
          </a:xfrm>
          <a:prstGeom prst="rect">
            <a:avLst/>
          </a:prstGeom>
          <a:solidFill>
            <a:srgbClr val="071A1F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628632" y="3529584"/>
            <a:ext cx="177393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/portal/en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628632" y="3771900"/>
            <a:ext cx="177393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738360" y="4160520"/>
            <a:ext cx="1280160" cy="201168"/>
          </a:xfrm>
          <a:prstGeom prst="roundRect">
            <a:avLst>
              <a:gd name="adj" fmla="val 13636"/>
            </a:avLst>
          </a:prstGeom>
          <a:solidFill>
            <a:srgbClr val="22D3EE"/>
          </a:solidFill>
          <a:ln/>
        </p:spPr>
      </p:sp>
      <p:sp>
        <p:nvSpPr>
          <p:cNvPr id="61" name="Text 59"/>
          <p:cNvSpPr/>
          <p:nvPr/>
        </p:nvSpPr>
        <p:spPr>
          <a:xfrm>
            <a:off x="9738360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(auto-redirect)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418320" y="1874520"/>
            <a:ext cx="2514600" cy="1371600"/>
          </a:xfrm>
          <a:prstGeom prst="rect">
            <a:avLst/>
          </a:prstGeom>
          <a:solidFill>
            <a:srgbClr val="21262D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418320" y="1874520"/>
            <a:ext cx="25146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4" name="Text 62"/>
          <p:cNvSpPr/>
          <p:nvPr/>
        </p:nvSpPr>
        <p:spPr>
          <a:xfrm>
            <a:off x="9555480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555480" y="2286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 the mo phien lam viec cua bat ky USER nao. ImpersonationBanner hien o tren cung khi dang gia lap. Stop impersonation de quay lai.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" y="6400800"/>
            <a:ext cx="1161288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649224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1C1F24"/>
          </a:solidFill>
          <a:ln w="8890">
            <a:solidFill>
              <a:srgbClr val="6B72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6565392"/>
            <a:ext cx="128016" cy="12801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69" name="Text 67"/>
          <p:cNvSpPr/>
          <p:nvPr/>
        </p:nvSpPr>
        <p:spPr>
          <a:xfrm>
            <a:off x="548640" y="6492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Public/Auth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965960" y="649224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1A0C30"/>
          </a:solidFill>
          <a:ln w="8890">
            <a:solidFill>
              <a:srgbClr val="A855F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57400" y="6565392"/>
            <a:ext cx="128016" cy="12801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72" name="Text 70"/>
          <p:cNvSpPr/>
          <p:nvPr/>
        </p:nvSpPr>
        <p:spPr>
          <a:xfrm>
            <a:off x="2240280" y="6492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657600" y="649224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C1829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49040" y="6565392"/>
            <a:ext cx="128016" cy="128016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5" name="Text 73"/>
          <p:cNvSpPr/>
          <p:nvPr/>
        </p:nvSpPr>
        <p:spPr>
          <a:xfrm>
            <a:off x="3931920" y="6492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349240" y="649224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071A1F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40680" y="6565392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8" name="Text 76"/>
          <p:cNvSpPr/>
          <p:nvPr/>
        </p:nvSpPr>
        <p:spPr>
          <a:xfrm>
            <a:off x="5623560" y="6492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  SITE 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SECTION — SITEMAP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trang · /[workspaceId]/admin/* · Role: ADMIN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0" y="822960"/>
            <a:ext cx="1554480" cy="548640"/>
          </a:xfrm>
          <a:prstGeom prst="rect">
            <a:avLst/>
          </a:prstGeom>
          <a:solidFill>
            <a:srgbClr val="1A0C30"/>
          </a:solidFill>
          <a:ln w="2032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0" y="822960"/>
            <a:ext cx="155448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Text 7"/>
          <p:cNvSpPr/>
          <p:nvPr/>
        </p:nvSpPr>
        <p:spPr>
          <a:xfrm>
            <a:off x="5376672" y="877824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76672" y="1097280"/>
            <a:ext cx="1408176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80760" y="1371600"/>
            <a:ext cx="0" cy="25146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8216" y="1623060"/>
            <a:ext cx="8705088" cy="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28216" y="1623060"/>
            <a:ext cx="0" cy="25146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2144" y="1874520"/>
            <a:ext cx="1152144" cy="548640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296" y="192938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/admin/queue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25296" y="2148840"/>
            <a:ext cx="10058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971800" y="1623060"/>
            <a:ext cx="0" cy="25146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95728" y="1874520"/>
            <a:ext cx="1152144" cy="548640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192938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/admin/crm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68880" y="2148840"/>
            <a:ext cx="10058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Clients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15384" y="1623060"/>
            <a:ext cx="0" cy="25146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9312" y="1874520"/>
            <a:ext cx="1152144" cy="548640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192938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/admin/users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12464" y="2148840"/>
            <a:ext cx="10058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58968" y="1623060"/>
            <a:ext cx="0" cy="25146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82896" y="1874520"/>
            <a:ext cx="1152144" cy="548640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92938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/admin/schedule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56048" y="2148840"/>
            <a:ext cx="10058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Schedule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702552" y="1623060"/>
            <a:ext cx="0" cy="25146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874520"/>
            <a:ext cx="1152144" cy="548640"/>
          </a:xfrm>
          <a:prstGeom prst="rect">
            <a:avLst/>
          </a:prstGeom>
          <a:solidFill>
            <a:srgbClr val="1C1207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92938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/admin/finance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99632" y="2148840"/>
            <a:ext cx="10058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946136" y="1623060"/>
            <a:ext cx="0" cy="25146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70064" y="1874520"/>
            <a:ext cx="1152144" cy="548640"/>
          </a:xfrm>
          <a:prstGeom prst="rect">
            <a:avLst/>
          </a:prstGeom>
          <a:solidFill>
            <a:srgbClr val="1C1207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43216" y="192938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/admin/payroll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43216" y="2148840"/>
            <a:ext cx="10058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189720" y="1623060"/>
            <a:ext cx="0" cy="25146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13648" y="1874520"/>
            <a:ext cx="1152144" cy="548640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192938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/admin/performance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686800" y="2148840"/>
            <a:ext cx="10058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0433304" y="1623060"/>
            <a:ext cx="0" cy="25146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857232" y="1874520"/>
            <a:ext cx="1152144" cy="548640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930384" y="192938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/admin/analytics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930384" y="2148840"/>
            <a:ext cx="100584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971800" y="2423160"/>
            <a:ext cx="0" cy="22860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71800" y="2651760"/>
            <a:ext cx="0" cy="22860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95728" y="2880360"/>
            <a:ext cx="1243584" cy="475488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2935224"/>
            <a:ext cx="109728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/admin/crm/[id]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468880" y="3118104"/>
            <a:ext cx="109728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Detail + Analytics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0433304" y="2423160"/>
            <a:ext cx="0" cy="22860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33304" y="2651760"/>
            <a:ext cx="0" cy="228600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57232" y="2880360"/>
            <a:ext cx="1243584" cy="475488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30384" y="2935224"/>
            <a:ext cx="109728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/analytics/staff/[userId]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930384" y="3118104"/>
            <a:ext cx="1097280" cy="228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Error Detail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152144" y="3657600"/>
            <a:ext cx="1152144" cy="1188720"/>
          </a:xfrm>
          <a:prstGeom prst="rect">
            <a:avLst/>
          </a:prstGeom>
          <a:solidFill>
            <a:srgbClr val="1A0C3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52144" y="3657600"/>
            <a:ext cx="1152144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7" name="Shape 55"/>
          <p:cNvSpPr/>
          <p:nvPr/>
        </p:nvSpPr>
        <p:spPr>
          <a:xfrm>
            <a:off x="1728216" y="3355848"/>
            <a:ext cx="0" cy="301752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25296" y="3730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Features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225296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Dong / Mo Marketplace (Toggle)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225296" y="4279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Dem task theo loai: Short/Long/Trial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225296" y="45354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Gan task tu danh sach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395728" y="3657600"/>
            <a:ext cx="1152144" cy="1188720"/>
          </a:xfrm>
          <a:prstGeom prst="rect">
            <a:avLst/>
          </a:prstGeom>
          <a:solidFill>
            <a:srgbClr val="1A0C3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95728" y="3657600"/>
            <a:ext cx="1152144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4" name="Shape 62"/>
          <p:cNvSpPr/>
          <p:nvPr/>
        </p:nvSpPr>
        <p:spPr>
          <a:xfrm>
            <a:off x="2971800" y="3355848"/>
            <a:ext cx="0" cy="301752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68880" y="3730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Features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468880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Danh sach Client (cha-con)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468880" y="4279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Tao Partner / Sub-Client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468880" y="45354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Client analytics &amp; KPIs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639312" y="3657600"/>
            <a:ext cx="1152144" cy="1188720"/>
          </a:xfrm>
          <a:prstGeom prst="rect">
            <a:avLst/>
          </a:prstGeom>
          <a:solidFill>
            <a:srgbClr val="1A0C3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39312" y="3657600"/>
            <a:ext cx="1152144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1" name="Shape 69"/>
          <p:cNvSpPr/>
          <p:nvPr/>
        </p:nvSpPr>
        <p:spPr>
          <a:xfrm>
            <a:off x="4215384" y="3355848"/>
            <a:ext cx="0" cy="301752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12464" y="3730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712464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Tao / Xoa User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3712464" y="4279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Gan Role + Treasurer toggle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712464" y="45354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Cross-team access duyet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126480" y="3657600"/>
            <a:ext cx="1152144" cy="1188720"/>
          </a:xfrm>
          <a:prstGeom prst="rect">
            <a:avLst/>
          </a:prstGeom>
          <a:solidFill>
            <a:srgbClr val="1C120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26480" y="3657600"/>
            <a:ext cx="1152144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78" name="Shape 76"/>
          <p:cNvSpPr/>
          <p:nvPr/>
        </p:nvSpPr>
        <p:spPr>
          <a:xfrm>
            <a:off x="6702552" y="3355848"/>
            <a:ext cx="0" cy="301752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99632" y="3730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 ★ Treasurer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199632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USD/VND bieu do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199632" y="4279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Profit margin tinh toan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199632" y="45354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Exchange rate real-time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370064" y="3657600"/>
            <a:ext cx="1152144" cy="1188720"/>
          </a:xfrm>
          <a:prstGeom prst="rect">
            <a:avLst/>
          </a:prstGeom>
          <a:solidFill>
            <a:srgbClr val="1C120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370064" y="3657600"/>
            <a:ext cx="1152144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85" name="Shape 83"/>
          <p:cNvSpPr/>
          <p:nvPr/>
        </p:nvSpPr>
        <p:spPr>
          <a:xfrm>
            <a:off x="7946136" y="3355848"/>
            <a:ext cx="0" cy="301752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43216" y="3730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 ★ Treasurer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443216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Tinh luong + Bonus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7443216" y="4279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Bonus ranking algorithm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443216" y="45354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Export XLSX theo thang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9857232" y="3657600"/>
            <a:ext cx="1152144" cy="1188720"/>
          </a:xfrm>
          <a:prstGeom prst="rect">
            <a:avLst/>
          </a:prstGeom>
          <a:solidFill>
            <a:srgbClr val="1A0C3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857232" y="3657600"/>
            <a:ext cx="1152144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2" name="Shape 90"/>
          <p:cNvSpPr/>
          <p:nvPr/>
        </p:nvSpPr>
        <p:spPr>
          <a:xfrm>
            <a:off x="10433304" y="3355848"/>
            <a:ext cx="0" cy="301752"/>
          </a:xfrm>
          <a:prstGeom prst="line">
            <a:avLst/>
          </a:prstGeom>
          <a:noFill/>
          <a:ln w="9525">
            <a:solidFill>
              <a:srgbClr val="A855F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930384" y="3730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Features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930384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TanStack performance grid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9930384" y="4279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Live Presence tracking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930384" y="45354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Friction heatmap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274320" y="6236208"/>
            <a:ext cx="11612880" cy="411480"/>
          </a:xfrm>
          <a:prstGeom prst="rect">
            <a:avLst/>
          </a:prstGeom>
          <a:solidFill>
            <a:srgbClr val="1C120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11480" y="6309360"/>
            <a:ext cx="1371600" cy="201168"/>
          </a:xfrm>
          <a:prstGeom prst="roundRect">
            <a:avLst>
              <a:gd name="adj" fmla="val 13636"/>
            </a:avLst>
          </a:prstGeom>
          <a:solidFill>
            <a:srgbClr val="FB923C"/>
          </a:solidFill>
          <a:ln/>
        </p:spPr>
      </p:sp>
      <p:sp>
        <p:nvSpPr>
          <p:cNvPr id="99" name="Text 97"/>
          <p:cNvSpPr/>
          <p:nvPr/>
        </p:nvSpPr>
        <p:spPr>
          <a:xfrm>
            <a:off x="411480" y="6309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 ★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1920240" y="62910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Payroll yeu cau ADMIN role hoac isTreasurer = true. Menu item bi an neu khong co quyen. Toggle Treasurer o trang /admin/users.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  SITE 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DASHBOARD — SITEMAP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trang + Marketplace Overlay · /[workspaceId]/dashboard/* · Role: USER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841248"/>
            <a:ext cx="2560320" cy="594360"/>
          </a:xfrm>
          <a:prstGeom prst="rect">
            <a:avLst/>
          </a:prstGeom>
          <a:solidFill>
            <a:srgbClr val="0C1829"/>
          </a:solidFill>
          <a:ln w="2032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841248"/>
            <a:ext cx="256032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4873752" y="896112"/>
            <a:ext cx="24140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/[workspaceId]/dashboard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73752" y="1138428"/>
            <a:ext cx="241401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Dashboard Root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80760" y="1435608"/>
            <a:ext cx="0" cy="242316"/>
          </a:xfrm>
          <a:prstGeom prst="line">
            <a:avLst/>
          </a:prstGeom>
          <a:noFill/>
          <a:ln w="9525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1677924"/>
            <a:ext cx="7680960" cy="0"/>
          </a:xfrm>
          <a:prstGeom prst="line">
            <a:avLst/>
          </a:prstGeom>
          <a:noFill/>
          <a:ln w="9525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1677924"/>
            <a:ext cx="0" cy="242316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1920240"/>
            <a:ext cx="2194560" cy="594360"/>
          </a:xfrm>
          <a:prstGeom prst="rect">
            <a:avLst/>
          </a:prstGeom>
          <a:solidFill>
            <a:srgbClr val="0C1829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1975104"/>
            <a:ext cx="204825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16152" y="2217420"/>
            <a:ext cx="20482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Hub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00600" y="1677924"/>
            <a:ext cx="0" cy="242316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1920240"/>
            <a:ext cx="2194560" cy="594360"/>
          </a:xfrm>
          <a:prstGeom prst="rect">
            <a:avLst/>
          </a:prstGeom>
          <a:solidFill>
            <a:srgbClr val="0C1829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6472" y="1975104"/>
            <a:ext cx="204825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/dashboard/profile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76472" y="2217420"/>
            <a:ext cx="20482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Settings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60920" y="1677924"/>
            <a:ext cx="0" cy="242316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920240"/>
            <a:ext cx="2194560" cy="594360"/>
          </a:xfrm>
          <a:prstGeom prst="rect">
            <a:avLst/>
          </a:prstGeom>
          <a:solidFill>
            <a:srgbClr val="0C1829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975104"/>
            <a:ext cx="204825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/dashboard/schedule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36792" y="2217420"/>
            <a:ext cx="20482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Schedule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921240" y="1677924"/>
            <a:ext cx="0" cy="242316"/>
          </a:xfrm>
          <a:prstGeom prst="line">
            <a:avLst/>
          </a:prstGeom>
          <a:noFill/>
          <a:ln w="9525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3960" y="1920240"/>
            <a:ext cx="2194560" cy="594360"/>
          </a:xfrm>
          <a:prstGeom prst="rect">
            <a:avLst/>
          </a:prstGeom>
          <a:solidFill>
            <a:srgbClr val="0C1829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1975104"/>
            <a:ext cx="204825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/dashboard/errors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97112" y="2217420"/>
            <a:ext cx="204825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History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43000" y="2679192"/>
            <a:ext cx="2194560" cy="2560320"/>
          </a:xfrm>
          <a:prstGeom prst="rect">
            <a:avLst/>
          </a:prstGeom>
          <a:solidFill>
            <a:srgbClr val="0C1829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3000" y="2679192"/>
            <a:ext cx="219456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1" name="Text 29"/>
          <p:cNvSpPr/>
          <p:nvPr/>
        </p:nvSpPr>
        <p:spPr>
          <a:xfrm>
            <a:off x="1234440" y="2770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34440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Hero Card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234440" y="3337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Luong co ban (completed tasks)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234440" y="35753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Bonus thang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23444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Luong tam tinh (in-progress)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34440" y="4050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+ Rank badge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234440" y="4288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Rank: S / A / B / C / 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234440" y="4526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 (assigned tasks)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234440" y="47640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(bang xep hang)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234440" y="5001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FAB button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703320" y="2679192"/>
            <a:ext cx="2194560" cy="2560320"/>
          </a:xfrm>
          <a:prstGeom prst="rect">
            <a:avLst/>
          </a:prstGeom>
          <a:solidFill>
            <a:srgbClr val="0C1829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03320" y="2679192"/>
            <a:ext cx="219456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3" name="Text 41"/>
          <p:cNvSpPr/>
          <p:nvPr/>
        </p:nvSpPr>
        <p:spPr>
          <a:xfrm>
            <a:off x="3794760" y="2770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Settings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794760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Avatar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794760" y="3337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Chinh sua Nickname / Email / SDT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794760" y="35753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mat khau (xac nhan cu)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79476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QR code thanh toan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794760" y="4050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Thong tin ngan hang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63640" y="2679192"/>
            <a:ext cx="2194560" cy="2560320"/>
          </a:xfrm>
          <a:prstGeom prst="rect">
            <a:avLst/>
          </a:prstGeom>
          <a:solidFill>
            <a:srgbClr val="0C1829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63640" y="2679192"/>
            <a:ext cx="219456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1" name="Text 49"/>
          <p:cNvSpPr/>
          <p:nvPr/>
        </p:nvSpPr>
        <p:spPr>
          <a:xfrm>
            <a:off x="6355080" y="2770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Schedule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55080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grid keo-tha thiet lap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55080" y="3337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 (lich co dinh)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55080" y="35753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(ngay nghi / gio them)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5508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?date=YYYY-MM-DD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55080" y="4050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 — cap nhat ngay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823960" y="2679192"/>
            <a:ext cx="2194560" cy="2560320"/>
          </a:xfrm>
          <a:prstGeom prst="rect">
            <a:avLst/>
          </a:prstGeom>
          <a:solidFill>
            <a:srgbClr val="0C1829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23960" y="2679192"/>
            <a:ext cx="219456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9" name="Text 57"/>
          <p:cNvSpPr/>
          <p:nvPr/>
        </p:nvSpPr>
        <p:spPr>
          <a:xfrm>
            <a:off x="8915400" y="27706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History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915400" y="3099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sach vi pham / loi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915400" y="33375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 do: Xuat sac / Can than / Nguy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915400" y="35753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0.6%  = Xuat sac (green)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91540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0.6–1% = Can than (amber)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915400" y="4050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1%    = Nguy hiem (red)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6236208"/>
            <a:ext cx="11612880" cy="411480"/>
          </a:xfrm>
          <a:prstGeom prst="rect">
            <a:avLst/>
          </a:prstGeom>
          <a:solidFill>
            <a:srgbClr val="1C1507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" y="6291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(Overlay):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697480" y="6291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drag-and-drop (dnd-kit)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029200" y="6291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 bang cach keo vao Drop Zone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360920" y="6291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task trong 10 phut (claimSource=MARKET)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692640" y="6291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F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MarketplaceToggle.tsx — Admin dong/mo phien cho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  SITE 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— SITEMAP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trang · /portal/[locale]/[workspaceId]/* · Role: CLIENT · 4 ngon ngu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841248"/>
            <a:ext cx="2743200" cy="594360"/>
          </a:xfrm>
          <a:prstGeom prst="rect">
            <a:avLst/>
          </a:prstGeom>
          <a:solidFill>
            <a:srgbClr val="071A1F"/>
          </a:solidFill>
          <a:ln w="2032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841248"/>
            <a:ext cx="27432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4782312" y="896112"/>
            <a:ext cx="259689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/portal/[locale]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82312" y="1138428"/>
            <a:ext cx="259689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Entry + Workspace Select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80760" y="1435608"/>
            <a:ext cx="0" cy="502920"/>
          </a:xfrm>
          <a:prstGeom prst="line">
            <a:avLst/>
          </a:prstGeom>
          <a:noFill/>
          <a:ln w="9525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938528"/>
            <a:ext cx="2926080" cy="594360"/>
          </a:xfrm>
          <a:prstGeom prst="rect">
            <a:avLst/>
          </a:prstGeom>
          <a:solidFill>
            <a:srgbClr val="071A1F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993392"/>
            <a:ext cx="277977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/portal/[locale]/[workspaceId]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90872" y="2235708"/>
            <a:ext cx="277977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Layout (Sidebar + Nav)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80760" y="2532888"/>
            <a:ext cx="0" cy="265176"/>
          </a:xfrm>
          <a:prstGeom prst="line">
            <a:avLst/>
          </a:prstGeom>
          <a:noFill/>
          <a:ln w="9525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798064"/>
            <a:ext cx="2834640" cy="0"/>
          </a:xfrm>
          <a:prstGeom prst="line">
            <a:avLst/>
          </a:prstGeom>
          <a:noFill/>
          <a:ln w="9525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798064"/>
            <a:ext cx="0" cy="265176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1880" y="3063240"/>
            <a:ext cx="2103120" cy="594360"/>
          </a:xfrm>
          <a:prstGeom prst="rect">
            <a:avLst/>
          </a:prstGeom>
          <a:solidFill>
            <a:srgbClr val="071A1F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3118104"/>
            <a:ext cx="19568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85032" y="3360420"/>
            <a:ext cx="195681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Dashboard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498080" y="2798064"/>
            <a:ext cx="0" cy="265176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063240"/>
            <a:ext cx="2103120" cy="594360"/>
          </a:xfrm>
          <a:prstGeom prst="rect">
            <a:avLst/>
          </a:prstGeom>
          <a:solidFill>
            <a:srgbClr val="071A1F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118104"/>
            <a:ext cx="19568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/invoices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19672" y="3360420"/>
            <a:ext cx="195681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Dashboard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0" cy="457200"/>
          </a:xfrm>
          <a:prstGeom prst="line">
            <a:avLst/>
          </a:prstGeom>
          <a:noFill/>
          <a:ln w="9525">
            <a:solidFill>
              <a:srgbClr val="06B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1880" y="4114800"/>
            <a:ext cx="2103120" cy="594360"/>
          </a:xfrm>
          <a:prstGeom prst="rect">
            <a:avLst/>
          </a:prstGeom>
          <a:solidFill>
            <a:srgbClr val="071A1F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4169664"/>
            <a:ext cx="195681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/tasks/[id]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85032" y="4411980"/>
            <a:ext cx="1956816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Detail Page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28600" y="2057400"/>
            <a:ext cx="2834640" cy="4069080"/>
          </a:xfrm>
          <a:prstGeom prst="rect">
            <a:avLst/>
          </a:prstGeom>
          <a:solidFill>
            <a:srgbClr val="071A1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057400"/>
            <a:ext cx="283464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Card (Total / Complete / Active)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" y="2843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count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Soon + Next Deadline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7472" y="3502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Accordion by status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" y="3922776"/>
            <a:ext cx="2468880" cy="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Widgets: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7472" y="4489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ActiveFocusWidget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7472" y="4818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ProjectHealthWidget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" y="5148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ActivityFeedWidget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" y="5477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AssetDocumentHubWidget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47472" y="5806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RatingMicroSurvey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098280" y="2057400"/>
            <a:ext cx="2834640" cy="2606040"/>
          </a:xfrm>
          <a:prstGeom prst="rect">
            <a:avLst/>
          </a:prstGeom>
          <a:solidFill>
            <a:srgbClr val="071A1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098280" y="2057400"/>
            <a:ext cx="283464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5" name="Text 43"/>
          <p:cNvSpPr/>
          <p:nvPr/>
        </p:nvSpPr>
        <p:spPr>
          <a:xfrm>
            <a:off x="9217152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DASHBOARD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17152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sach Invoice by project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217152" y="2898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DRAFT / SENT / PAID / OVERDUE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217152" y="32826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217152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BillingProfile info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217152" y="4050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search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28600" y="6291072"/>
            <a:ext cx="11704320" cy="347472"/>
          </a:xfrm>
          <a:prstGeom prst="rect">
            <a:avLst/>
          </a:prstGeom>
          <a:solidFill>
            <a:srgbClr val="071A1F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634593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NGON NGU: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737360" y="6318504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0" y="63185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 Tieng Viet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29000" y="6318504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20440" y="63185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English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20640" y="6318504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0" y="63185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  Chinese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812280" y="6318504"/>
            <a:ext cx="1508760" cy="256032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03720" y="631850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  Russian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686800" y="63459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URL: /portal/[locale]/[workspaceId]/...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  SITE 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· /api/* · Backend route handlers + Auth rules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532120" cy="914400"/>
          </a:xfrm>
          <a:prstGeom prst="rect">
            <a:avLst/>
          </a:prstGeom>
          <a:solidFill>
            <a:srgbClr val="1C1F24"/>
          </a:solidFill>
          <a:ln w="1016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5532120" cy="457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950976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9509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950976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1243584"/>
            <a:ext cx="5312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1463040"/>
            <a:ext cx="341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Xoa session cookie + redirect /login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1463040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4630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80760" y="841248"/>
            <a:ext cx="5532120" cy="914400"/>
          </a:xfrm>
          <a:prstGeom prst="rect">
            <a:avLst/>
          </a:prstGeom>
          <a:solidFill>
            <a:srgbClr val="1C1F24"/>
          </a:solidFill>
          <a:ln w="1016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841248"/>
            <a:ext cx="5532120" cy="457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0488" y="950976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9509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950976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User Role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0488" y="1243584"/>
            <a:ext cx="5312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/api/auth/role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90488" y="1463040"/>
            <a:ext cx="341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ve { role, isTreasurer 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241280" y="1463040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14630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1956816"/>
            <a:ext cx="5532120" cy="914400"/>
          </a:xfrm>
          <a:prstGeom prst="rect">
            <a:avLst/>
          </a:prstGeom>
          <a:solidFill>
            <a:srgbClr val="1C1F24"/>
          </a:solidFill>
          <a:ln w="1016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1956816"/>
            <a:ext cx="5532120" cy="457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048" y="2066544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20665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2066544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Profile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" y="2359152"/>
            <a:ext cx="5312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/api/profile/select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2578608"/>
            <a:ext cx="341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team, re-sign JWT token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2578608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25786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0760" y="1956816"/>
            <a:ext cx="5532120" cy="914400"/>
          </a:xfrm>
          <a:prstGeom prst="rect">
            <a:avLst/>
          </a:prstGeom>
          <a:solidFill>
            <a:srgbClr val="061812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1956816"/>
            <a:ext cx="55321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6" name="Shape 34"/>
          <p:cNvSpPr/>
          <p:nvPr/>
        </p:nvSpPr>
        <p:spPr>
          <a:xfrm>
            <a:off x="6190488" y="2066544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6190488" y="206654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0" y="2066544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Timestamp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90488" y="2359152"/>
            <a:ext cx="5312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/api/time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90488" y="2578608"/>
            <a:ext cx="341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 bo thoi gian client-server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241280" y="2578608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0" y="25786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3072384"/>
            <a:ext cx="5532120" cy="914400"/>
          </a:xfrm>
          <a:prstGeom prst="rect">
            <a:avLst/>
          </a:prstGeom>
          <a:solidFill>
            <a:srgbClr val="061812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3072384"/>
            <a:ext cx="55321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5" name="Shape 43"/>
          <p:cNvSpPr/>
          <p:nvPr/>
        </p:nvSpPr>
        <p:spPr>
          <a:xfrm>
            <a:off x="384048" y="3182112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" y="31821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1560" y="318211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→ VND Rate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84048" y="3474720"/>
            <a:ext cx="5312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/api/exchange-rate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4048" y="3694176"/>
            <a:ext cx="341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gia. Fallback = 26,300 VND/USD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34840" y="3694176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4840" y="36941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80760" y="3072384"/>
            <a:ext cx="5532120" cy="914400"/>
          </a:xfrm>
          <a:prstGeom prst="rect">
            <a:avLst/>
          </a:prstGeom>
          <a:solidFill>
            <a:srgbClr val="1C1207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80760" y="3072384"/>
            <a:ext cx="553212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4" name="Shape 52"/>
          <p:cNvSpPr/>
          <p:nvPr/>
        </p:nvSpPr>
        <p:spPr>
          <a:xfrm>
            <a:off x="6190488" y="3182112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6190488" y="31821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58000" y="3182112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Invoice PDF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190488" y="3474720"/>
            <a:ext cx="5312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/api/invoices/generate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90488" y="3694176"/>
            <a:ext cx="341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 PDF invoice tu JSON payload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0241280" y="3694176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1C120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41280" y="36941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ADMIN/TREAS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74320" y="4187952"/>
            <a:ext cx="5532120" cy="914400"/>
          </a:xfrm>
          <a:prstGeom prst="rect">
            <a:avLst/>
          </a:prstGeom>
          <a:solidFill>
            <a:srgbClr val="1C1207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74320" y="4187952"/>
            <a:ext cx="553212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3" name="Shape 61"/>
          <p:cNvSpPr/>
          <p:nvPr/>
        </p:nvSpPr>
        <p:spPr>
          <a:xfrm>
            <a:off x="384048" y="4297680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64" name="Text 62"/>
          <p:cNvSpPr/>
          <p:nvPr/>
        </p:nvSpPr>
        <p:spPr>
          <a:xfrm>
            <a:off x="384048" y="4297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51560" y="429768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Invoice PDF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84048" y="4590288"/>
            <a:ext cx="5312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/api/invoices/[id]/download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84048" y="4809744"/>
            <a:ext cx="341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file PDF theo invoice ID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434840" y="4809744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1C120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34840" y="48097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ADMIN/TREAS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080760" y="4187952"/>
            <a:ext cx="5532120" cy="914400"/>
          </a:xfrm>
          <a:prstGeom prst="rect">
            <a:avLst/>
          </a:prstGeom>
          <a:solidFill>
            <a:srgbClr val="1A0C30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080760" y="4187952"/>
            <a:ext cx="553212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2" name="Shape 70"/>
          <p:cNvSpPr/>
          <p:nvPr/>
        </p:nvSpPr>
        <p:spPr>
          <a:xfrm>
            <a:off x="6190488" y="4297680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73" name="Text 71"/>
          <p:cNvSpPr/>
          <p:nvPr/>
        </p:nvSpPr>
        <p:spPr>
          <a:xfrm>
            <a:off x="6190488" y="42976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858000" y="429768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Tasks XLSX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190488" y="4590288"/>
            <a:ext cx="5312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/api/exports/monthly-tasks-xlsx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190488" y="4809744"/>
            <a:ext cx="341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Xuat Excel 2 sheet (Tasks + Summary)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241280" y="4809744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1A0C3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241280" y="48097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74320" y="5303520"/>
            <a:ext cx="5532120" cy="914400"/>
          </a:xfrm>
          <a:prstGeom prst="rect">
            <a:avLst/>
          </a:prstGeom>
          <a:solidFill>
            <a:srgbClr val="061812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74320" y="5303520"/>
            <a:ext cx="55321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" y="5413248"/>
            <a:ext cx="548640" cy="219456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82" name="Text 80"/>
          <p:cNvSpPr/>
          <p:nvPr/>
        </p:nvSpPr>
        <p:spPr>
          <a:xfrm>
            <a:off x="384048" y="54132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51560" y="5413248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Cron: Check Overdue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384048" y="5705856"/>
            <a:ext cx="5312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/api/cron/check-deadline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384048" y="5925312"/>
            <a:ext cx="341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dau task qua han. Header: x-cron-secret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434840" y="5925312"/>
            <a:ext cx="1234440" cy="201168"/>
          </a:xfrm>
          <a:prstGeom prst="roundRect">
            <a:avLst>
              <a:gd name="adj" fmla="val 18182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434840" y="59253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CRON_SECRET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74320" y="5303520"/>
            <a:ext cx="11338560" cy="457200"/>
          </a:xfrm>
          <a:prstGeom prst="rect">
            <a:avLst/>
          </a:prstGeom>
          <a:solidFill>
            <a:srgbClr val="061812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84048" y="541324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90" name="Text 88"/>
          <p:cNvSpPr/>
          <p:nvPr/>
        </p:nvSpPr>
        <p:spPr>
          <a:xfrm>
            <a:off x="384048" y="54132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143000" y="54132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/api/webhooks/calendar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4846320" y="541324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/ Microsoft Graph webhook (partial implementation)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  SITE 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ROLE GATING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AppSidebar · Menu visibility · User dropdown · Mobile nav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4114800" cy="5760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41248"/>
            <a:ext cx="36576" cy="5760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932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AppSidebar — ADMIN NAVIGATION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" y="1316736"/>
            <a:ext cx="3886200" cy="457200"/>
          </a:xfrm>
          <a:prstGeom prst="rect">
            <a:avLst/>
          </a:prstGeom>
          <a:solidFill>
            <a:srgbClr val="1A1F2B"/>
          </a:solidFill>
          <a:ln w="2540">
            <a:solidFill>
              <a:srgbClr val="484F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72184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3716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15727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0" y="14264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" y="1865376"/>
            <a:ext cx="3886200" cy="457200"/>
          </a:xfrm>
          <a:prstGeom prst="rect">
            <a:avLst/>
          </a:prstGeom>
          <a:solidFill>
            <a:srgbClr val="161B22"/>
          </a:solidFill>
          <a:ln w="2540">
            <a:solidFill>
              <a:srgbClr val="484F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20824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920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21214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/admin/queue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68880" y="19751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" y="2414016"/>
            <a:ext cx="3886200" cy="457200"/>
          </a:xfrm>
          <a:prstGeom prst="rect">
            <a:avLst/>
          </a:prstGeom>
          <a:solidFill>
            <a:srgbClr val="1A1F2B"/>
          </a:solidFill>
          <a:ln w="2540">
            <a:solidFill>
              <a:srgbClr val="484F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569464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468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Clients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26700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68880" y="25237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" y="2962656"/>
            <a:ext cx="3886200" cy="457200"/>
          </a:xfrm>
          <a:prstGeom prst="rect">
            <a:avLst/>
          </a:prstGeom>
          <a:solidFill>
            <a:srgbClr val="161B22"/>
          </a:solidFill>
          <a:ln w="2540">
            <a:solidFill>
              <a:srgbClr val="484F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118104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0175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32186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/admin/schedule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8880" y="30723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" y="3511296"/>
            <a:ext cx="3886200" cy="457200"/>
          </a:xfrm>
          <a:prstGeom prst="rect">
            <a:avLst/>
          </a:prstGeom>
          <a:solidFill>
            <a:srgbClr val="1A1F2B"/>
          </a:solidFill>
          <a:ln w="2540">
            <a:solidFill>
              <a:srgbClr val="484F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66744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37673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/admin/payroll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68880" y="36210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" y="4059936"/>
            <a:ext cx="3886200" cy="457200"/>
          </a:xfrm>
          <a:prstGeom prst="rect">
            <a:avLst/>
          </a:prstGeom>
          <a:solidFill>
            <a:srgbClr val="161B22"/>
          </a:solidFill>
          <a:ln w="2540">
            <a:solidFill>
              <a:srgbClr val="484F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215384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14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 ★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5800" y="43159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/admin/finance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468880" y="41696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 TREASURER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9184" y="4608576"/>
            <a:ext cx="3886200" cy="457200"/>
          </a:xfrm>
          <a:prstGeom prst="rect">
            <a:avLst/>
          </a:prstGeom>
          <a:solidFill>
            <a:srgbClr val="1A1F2B"/>
          </a:solidFill>
          <a:ln w="2540">
            <a:solidFill>
              <a:srgbClr val="484F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764024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4663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5800" y="486460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/admin/users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468880" y="47183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9184" y="5157216"/>
            <a:ext cx="3886200" cy="457200"/>
          </a:xfrm>
          <a:prstGeom prst="rect">
            <a:avLst/>
          </a:prstGeom>
          <a:solidFill>
            <a:srgbClr val="161B22"/>
          </a:solidFill>
          <a:ln w="2540">
            <a:solidFill>
              <a:srgbClr val="484F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5312664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5212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85800" y="5413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/admin/analytics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468880" y="52669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0" y="841248"/>
            <a:ext cx="0" cy="576072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732520" y="841248"/>
            <a:ext cx="0" cy="576072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LOGIC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1335024"/>
            <a:ext cx="3977640" cy="566928"/>
          </a:xfrm>
          <a:prstGeom prst="rect">
            <a:avLst/>
          </a:prstGeom>
          <a:solidFill>
            <a:srgbClr val="1C120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1408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route visible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00600" y="1645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role==='ADMIN' || isTreasurer===true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663440" y="1993392"/>
            <a:ext cx="3977640" cy="566928"/>
          </a:xfrm>
          <a:prstGeom prst="rect">
            <a:avLst/>
          </a:prstGeom>
          <a:solidFill>
            <a:srgbClr val="1A0C3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route visible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00600" y="2304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role==='ADMIN'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2651760"/>
            <a:ext cx="3977640" cy="566928"/>
          </a:xfrm>
          <a:prstGeom prst="rect">
            <a:avLst/>
          </a:prstGeom>
          <a:solidFill>
            <a:srgbClr val="1A0C3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27249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route visible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00600" y="2962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role==='ADMIN'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63440" y="3310128"/>
            <a:ext cx="3977640" cy="566928"/>
          </a:xfrm>
          <a:prstGeom prst="rect">
            <a:avLst/>
          </a:prstGeom>
          <a:solidFill>
            <a:srgbClr val="1A0C3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0600" y="33832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visible (admin)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800600" y="3621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role==='ADMIN'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63440" y="3968496"/>
            <a:ext cx="3977640" cy="566928"/>
          </a:xfrm>
          <a:prstGeom prst="rect">
            <a:avLst/>
          </a:prstGeom>
          <a:solidFill>
            <a:srgbClr val="1C1207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4041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Dropdown: Finance link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800600" y="4279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isTreasurer === true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663440" y="4709160"/>
            <a:ext cx="3977640" cy="178308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0600" y="4791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DROPDOWN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800600" y="5212080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1" name="Text 69"/>
          <p:cNvSpPr/>
          <p:nvPr/>
        </p:nvSpPr>
        <p:spPr>
          <a:xfrm>
            <a:off x="4983480" y="5138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400800" y="5138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/dashboard/profile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800600" y="5541264"/>
            <a:ext cx="109728" cy="1097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74" name="Text 72"/>
          <p:cNvSpPr/>
          <p:nvPr/>
        </p:nvSpPr>
        <p:spPr>
          <a:xfrm>
            <a:off x="4983480" y="5468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Portal  ★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400800" y="5468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/admin/finance  (if Treasurer)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800600" y="5870448"/>
            <a:ext cx="109728" cy="109728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77" name="Text 75"/>
          <p:cNvSpPr/>
          <p:nvPr/>
        </p:nvSpPr>
        <p:spPr>
          <a:xfrm>
            <a:off x="4983480" y="5797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Switcher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400800" y="5797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800600" y="6199632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0" name="Text 78"/>
          <p:cNvSpPr/>
          <p:nvPr/>
        </p:nvSpPr>
        <p:spPr>
          <a:xfrm>
            <a:off x="4983480" y="6126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Out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400800" y="6126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/api/auth/logout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8869680" y="932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NAVIGATION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869680" y="131673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 (always visible)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869680" y="1700784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5" name="Text 83"/>
          <p:cNvSpPr/>
          <p:nvPr/>
        </p:nvSpPr>
        <p:spPr>
          <a:xfrm>
            <a:off x="9034272" y="16276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(icon: home)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869680" y="1993392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7" name="Text 85"/>
          <p:cNvSpPr/>
          <p:nvPr/>
        </p:nvSpPr>
        <p:spPr>
          <a:xfrm>
            <a:off x="9034272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(icon: checklist)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869680" y="2286000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9" name="Text 87"/>
          <p:cNvSpPr/>
          <p:nvPr/>
        </p:nvSpPr>
        <p:spPr>
          <a:xfrm>
            <a:off x="9034272" y="22128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(icon: trophy)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8869680" y="2578608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91" name="Text 89"/>
          <p:cNvSpPr/>
          <p:nvPr/>
        </p:nvSpPr>
        <p:spPr>
          <a:xfrm>
            <a:off x="9034272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(icon: hamburger)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8869680" y="30540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Menu (avatar click)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869680" y="3438144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94" name="Text 92"/>
          <p:cNvSpPr/>
          <p:nvPr/>
        </p:nvSpPr>
        <p:spPr>
          <a:xfrm>
            <a:off x="9034272" y="3364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History  /errors  (red badge)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8869680" y="3730752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96" name="Text 94"/>
          <p:cNvSpPr/>
          <p:nvPr/>
        </p:nvSpPr>
        <p:spPr>
          <a:xfrm>
            <a:off x="9034272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 /dashboard/profile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8869680" y="4023360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98" name="Text 96"/>
          <p:cNvSpPr/>
          <p:nvPr/>
        </p:nvSpPr>
        <p:spPr>
          <a:xfrm>
            <a:off x="9034272" y="3950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Switcher  /profile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869680" y="4315968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00" name="Text 98"/>
          <p:cNvSpPr/>
          <p:nvPr/>
        </p:nvSpPr>
        <p:spPr>
          <a:xfrm>
            <a:off x="9034272" y="4242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 (placeholder)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869680" y="4608576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02" name="Text 100"/>
          <p:cNvSpPr/>
          <p:nvPr/>
        </p:nvSpPr>
        <p:spPr>
          <a:xfrm>
            <a:off x="9034272" y="45354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 (placeholder)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869680" y="4901184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104" name="Text 102"/>
          <p:cNvSpPr/>
          <p:nvPr/>
        </p:nvSpPr>
        <p:spPr>
          <a:xfrm>
            <a:off x="9034272" y="4828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56032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45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AGENCYMANAGER  SITE 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&amp; REFERENCE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743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zones · Node types · Middleware summary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4572000" cy="5760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32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COLOR CODING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417320"/>
            <a:ext cx="347472" cy="457200"/>
          </a:xfrm>
          <a:prstGeom prst="rect">
            <a:avLst/>
          </a:prstGeom>
          <a:solidFill>
            <a:srgbClr val="1C1F24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435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Auth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673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Khong can dang nhap. /login, /profile, /workspace, /user-agreement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2130552"/>
            <a:ext cx="347472" cy="457200"/>
          </a:xfrm>
          <a:prstGeom prst="rect">
            <a:avLst/>
          </a:prstGeom>
          <a:solidFill>
            <a:srgbClr val="1A0C30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148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386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ADMIN role. /[wsId]/admin/*. 11 trang quan tri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843784"/>
            <a:ext cx="347472" cy="457200"/>
          </a:xfrm>
          <a:prstGeom prst="rect">
            <a:avLst/>
          </a:prstGeom>
          <a:solidFill>
            <a:srgbClr val="0C1829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62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(USER)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099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USER role. /[wsId]/dashboard/*. 4 trang lam viec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3557016"/>
            <a:ext cx="347472" cy="457200"/>
          </a:xfrm>
          <a:prstGeom prst="rect">
            <a:avLst/>
          </a:prstGeom>
          <a:solidFill>
            <a:srgbClr val="071A1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75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813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CLIENT role. /portal/[locale]/*. 4 trang portal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4270248"/>
            <a:ext cx="347472" cy="457200"/>
          </a:xfrm>
          <a:prstGeom prst="rect">
            <a:avLst/>
          </a:prstGeom>
          <a:solidFill>
            <a:srgbClr val="06181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88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526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endpoint /api/*. Khong co UI, handler code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4983480"/>
            <a:ext cx="347472" cy="457200"/>
          </a:xfrm>
          <a:prstGeom prst="rect">
            <a:avLst/>
          </a:prstGeom>
          <a:solidFill>
            <a:srgbClr val="1C120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001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Treasurer-Gated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5239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hoac isTreasurer=true. Finance, Payroll, Invoice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5696712"/>
            <a:ext cx="347472" cy="457200"/>
          </a:xfrm>
          <a:prstGeom prst="rect">
            <a:avLst/>
          </a:prstGeom>
          <a:solidFill>
            <a:srgbClr val="1C150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715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/ Modal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5952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Khong co URL rieng. Hien tren trang hien tai (Marketplace)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0" y="841248"/>
            <a:ext cx="0" cy="5760720"/>
          </a:xfrm>
          <a:prstGeom prst="line">
            <a:avLst/>
          </a:prstGeom>
          <a:noFill/>
          <a:ln w="508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9326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ROUTE REFERENCE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84648" y="1417320"/>
            <a:ext cx="109728" cy="109728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1344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498080" y="13441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→ /login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184648" y="1673352"/>
            <a:ext cx="109728" cy="109728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1600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498080" y="16002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 nhap he thong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184648" y="1929384"/>
            <a:ext cx="109728" cy="109728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1856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498080" y="18562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Profile / Team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184648" y="2185416"/>
            <a:ext cx="109728" cy="109728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2" name="Text 40"/>
          <p:cNvSpPr/>
          <p:nvPr/>
        </p:nvSpPr>
        <p:spPr>
          <a:xfrm>
            <a:off x="5349240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/workspace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98080" y="21122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Chon Workspace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84648" y="2441448"/>
            <a:ext cx="109728" cy="109728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5" name="Text 43"/>
          <p:cNvSpPr/>
          <p:nvPr/>
        </p:nvSpPr>
        <p:spPr>
          <a:xfrm>
            <a:off x="5349240" y="2368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/user-agreement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498080" y="23682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 nhan Dieu Khoan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184648" y="269748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8" name="Text 46"/>
          <p:cNvSpPr/>
          <p:nvPr/>
        </p:nvSpPr>
        <p:spPr>
          <a:xfrm>
            <a:off x="5349240" y="2624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498080" y="26243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(Hub)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84648" y="2953512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1" name="Text 49"/>
          <p:cNvSpPr/>
          <p:nvPr/>
        </p:nvSpPr>
        <p:spPr>
          <a:xfrm>
            <a:off x="5349240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/[wsId]/admin/queue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498080" y="28803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+ Marketplace toggle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184648" y="3209544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4" name="Text 52"/>
          <p:cNvSpPr/>
          <p:nvPr/>
        </p:nvSpPr>
        <p:spPr>
          <a:xfrm>
            <a:off x="5349240" y="3136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/[wsId]/admin/crm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98080" y="31363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ly Client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184648" y="3465576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7" name="Text 55"/>
          <p:cNvSpPr/>
          <p:nvPr/>
        </p:nvSpPr>
        <p:spPr>
          <a:xfrm>
            <a:off x="5349240" y="3392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/[wsId]/admin/crm/[id]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498080" y="33924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Detail + Analytics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184648" y="3721608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0" name="Text 58"/>
          <p:cNvSpPr/>
          <p:nvPr/>
        </p:nvSpPr>
        <p:spPr>
          <a:xfrm>
            <a:off x="5349240" y="36484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/[wsId]/admin/users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498080" y="364845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ly Nhan su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184648" y="397764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3" name="Text 61"/>
          <p:cNvSpPr/>
          <p:nvPr/>
        </p:nvSpPr>
        <p:spPr>
          <a:xfrm>
            <a:off x="5349240" y="39044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/[wsId]/admin/schedule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498080" y="39044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 team (read-only)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184648" y="4233672"/>
            <a:ext cx="109728" cy="1097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66" name="Text 64"/>
          <p:cNvSpPr/>
          <p:nvPr/>
        </p:nvSpPr>
        <p:spPr>
          <a:xfrm>
            <a:off x="5349240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/[wsId]/admin/finance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498080" y="4160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chinh  ★ TREAS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613648" y="1417320"/>
            <a:ext cx="109728" cy="109728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69" name="Text 67"/>
          <p:cNvSpPr/>
          <p:nvPr/>
        </p:nvSpPr>
        <p:spPr>
          <a:xfrm>
            <a:off x="8778240" y="1344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/[wsId]/admin/payroll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0927080" y="13441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+ Bonus  ★ TREAS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613648" y="1673352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72" name="Text 70"/>
          <p:cNvSpPr/>
          <p:nvPr/>
        </p:nvSpPr>
        <p:spPr>
          <a:xfrm>
            <a:off x="8778240" y="1600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/[wsId]/admin/performance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0927080" y="16002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 cao Performance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613648" y="1929384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75" name="Text 73"/>
          <p:cNvSpPr/>
          <p:nvPr/>
        </p:nvSpPr>
        <p:spPr>
          <a:xfrm>
            <a:off x="8778240" y="1856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/[wsId]/admin/analytics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0927080" y="18562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613648" y="2185416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78" name="Text 76"/>
          <p:cNvSpPr/>
          <p:nvPr/>
        </p:nvSpPr>
        <p:spPr>
          <a:xfrm>
            <a:off x="8778240" y="2112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/[wsId]/admin/analytics/staff/[userId]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10927080" y="21122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tiet loi nhan vien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613648" y="2441448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1" name="Text 79"/>
          <p:cNvSpPr/>
          <p:nvPr/>
        </p:nvSpPr>
        <p:spPr>
          <a:xfrm>
            <a:off x="8778240" y="23682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/[wsId]/dashboard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0927080" y="23682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Hub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8613648" y="2697480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4" name="Text 82"/>
          <p:cNvSpPr/>
          <p:nvPr/>
        </p:nvSpPr>
        <p:spPr>
          <a:xfrm>
            <a:off x="8778240" y="2624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/[wsId]/dashboard/profile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10927080" y="26243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Cai dat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613648" y="2953512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7" name="Text 85"/>
          <p:cNvSpPr/>
          <p:nvPr/>
        </p:nvSpPr>
        <p:spPr>
          <a:xfrm>
            <a:off x="8778240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/[wsId]/dashboard/schedule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10927080" y="28803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 ca nhan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613648" y="3209544"/>
            <a:ext cx="109728" cy="109728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90" name="Text 88"/>
          <p:cNvSpPr/>
          <p:nvPr/>
        </p:nvSpPr>
        <p:spPr>
          <a:xfrm>
            <a:off x="8778240" y="3136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/[wsId]/dashboard/errors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10927080" y="31363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 su vi pham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8613648" y="346557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3" name="Text 91"/>
          <p:cNvSpPr/>
          <p:nvPr/>
        </p:nvSpPr>
        <p:spPr>
          <a:xfrm>
            <a:off x="8778240" y="3392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/portal/[locale]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10927080" y="33924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- Chon Workspace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8613648" y="372160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6" name="Text 94"/>
          <p:cNvSpPr/>
          <p:nvPr/>
        </p:nvSpPr>
        <p:spPr>
          <a:xfrm>
            <a:off x="8778240" y="36484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/portal/[locale]/[wsId]/tasks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10927080" y="364845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Dashboard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8613648" y="397764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9" name="Text 97"/>
          <p:cNvSpPr/>
          <p:nvPr/>
        </p:nvSpPr>
        <p:spPr>
          <a:xfrm>
            <a:off x="8778240" y="39044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/portal/[locale]/[wsId]/tasks/[id]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10927080" y="39044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Detail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8613648" y="423367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2" name="Text 100"/>
          <p:cNvSpPr/>
          <p:nvPr/>
        </p:nvSpPr>
        <p:spPr>
          <a:xfrm>
            <a:off x="8778240" y="4160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/portal/[locale]/[wsId]/invoices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10927080" y="4160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Dashboard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2377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84F5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AgencyManager — Site Map</dc:title>
  <dc:subject>PptxGenJS Presentation</dc:subject>
  <dc:creator>AgencyManager</dc:creator>
  <cp:lastModifiedBy>AgencyManager</cp:lastModifiedBy>
  <cp:revision>1</cp:revision>
  <dcterms:created xsi:type="dcterms:W3CDTF">2026-04-15T13:48:48Z</dcterms:created>
  <dcterms:modified xsi:type="dcterms:W3CDTF">2026-04-15T13:48:48Z</dcterms:modified>
</cp:coreProperties>
</file>