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486400" cy="457200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5029200"/>
            <a:ext cx="4572000" cy="3657600"/>
          </a:xfrm>
          <a:prstGeom prst="ellipse">
            <a:avLst/>
          </a:prstGeom>
          <a:solidFill>
            <a:srgbClr val="D946EF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37560" y="685800"/>
            <a:ext cx="5486400" cy="5486400"/>
          </a:xfrm>
          <a:prstGeom prst="ellipse">
            <a:avLst/>
          </a:prstGeom>
          <a:solidFill>
            <a:srgbClr val="8B5CF6">
              <a:alpha val="1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57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1000" kern="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HUSTLYTASKER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1247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HustlyTasker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457200" y="361188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quản lý công việc dành riêng cho Video Agency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"Quản lý thông minh — Giao việc nhanh — Thanh toán minh bạch"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thuyết trình · EXE101 — Khởi nghiệp ·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486400" cy="457200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5029200"/>
            <a:ext cx="4572000" cy="3657600"/>
          </a:xfrm>
          <a:prstGeom prst="ellipse">
            <a:avLst/>
          </a:prstGeom>
          <a:solidFill>
            <a:srgbClr val="D946EF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con số khiến mọi agency video editing đau đầu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73152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554480"/>
            <a:ext cx="3566160" cy="3840480"/>
          </a:xfrm>
          <a:prstGeom prst="roundRect">
            <a:avLst>
              <a:gd name="adj" fmla="val 3846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8B5CF6">
                <a:alpha val="3000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874520"/>
            <a:ext cx="822960" cy="8229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78892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</a:t>
            </a:r>
            <a:endParaRPr lang="en-US" sz="8800" dirty="0"/>
          </a:p>
        </p:txBody>
      </p:sp>
      <p:sp>
        <p:nvSpPr>
          <p:cNvPr id="9" name="Text 6"/>
          <p:cNvSpPr/>
          <p:nvPr/>
        </p:nvSpPr>
        <p:spPr>
          <a:xfrm>
            <a:off x="640080" y="41148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giờ/tháng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4526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task thủ công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0080" y="49834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+ Zalo + Trello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97680" y="1554480"/>
            <a:ext cx="3566160" cy="3840480"/>
          </a:xfrm>
          <a:prstGeom prst="roundRect">
            <a:avLst>
              <a:gd name="adj" fmla="val 3846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8B5CF6">
                <a:alpha val="30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74520"/>
            <a:ext cx="822960" cy="8229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80560" y="278892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</a:t>
            </a:r>
            <a:endParaRPr lang="en-US" sz="8800" dirty="0"/>
          </a:p>
        </p:txBody>
      </p:sp>
      <p:sp>
        <p:nvSpPr>
          <p:cNvPr id="15" name="Text 11"/>
          <p:cNvSpPr/>
          <p:nvPr/>
        </p:nvSpPr>
        <p:spPr>
          <a:xfrm>
            <a:off x="4480560" y="41148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ngày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4480560" y="4526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Đối chiếu payroll cuối tháng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4480560" y="49834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↔ VND lệch tỷ giá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138160" y="1554480"/>
            <a:ext cx="3566160" cy="3840480"/>
          </a:xfrm>
          <a:prstGeom prst="roundRect">
            <a:avLst>
              <a:gd name="adj" fmla="val 3846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8B5CF6">
                <a:alpha val="30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874520"/>
            <a:ext cx="822960" cy="8229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321040" y="278892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8800" dirty="0"/>
          </a:p>
        </p:txBody>
      </p:sp>
      <p:sp>
        <p:nvSpPr>
          <p:cNvPr id="21" name="Text 16"/>
          <p:cNvSpPr/>
          <p:nvPr/>
        </p:nvSpPr>
        <p:spPr>
          <a:xfrm>
            <a:off x="8321040" y="41148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8321040" y="4526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Nhắn tin hỏi tiến độ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8321040" y="49834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≥1 lần/tuần · Multi-language gap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Phỏng vấn 5 agency Việt Nam — đây không phải con số tưởng tượng.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HustlyTasker · EXE101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486400" cy="457200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5029200"/>
            <a:ext cx="4572000" cy="3657600"/>
          </a:xfrm>
          <a:prstGeom prst="ellipse">
            <a:avLst/>
          </a:prstGeom>
          <a:solidFill>
            <a:srgbClr val="D946EF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agency video editing đang khổ?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pain points cốt lõi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024128"/>
            <a:ext cx="73152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554480"/>
            <a:ext cx="3566160" cy="4206240"/>
          </a:xfrm>
          <a:prstGeom prst="roundRect">
            <a:avLst>
              <a:gd name="adj" fmla="val 3846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828800"/>
            <a:ext cx="502920" cy="502920"/>
          </a:xfrm>
          <a:prstGeom prst="ellipse">
            <a:avLst/>
          </a:prstGeom>
          <a:solidFill>
            <a:srgbClr val="FBBF24">
              <a:alpha val="25000"/>
            </a:srgbClr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3240" y="1828800"/>
            <a:ext cx="548640" cy="5486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31520" y="25603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 lý task rời rạc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31520" y="324612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+ Zalo + Trello chắp vá. Admin phải hỏi từng editor mới biết task đang ở đâu. Dễ sót, miss deadline.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31520" y="475488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BBF24">
              <a:alpha val="14000"/>
            </a:srgbClr>
          </a:solidFill>
          <a:ln w="12700">
            <a:solidFill>
              <a:srgbClr val="FBBF24">
                <a:alpha val="50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48006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1.5h/ngày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731520" y="5257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để track status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297680" y="1554480"/>
            <a:ext cx="3566160" cy="4206240"/>
          </a:xfrm>
          <a:prstGeom prst="roundRect">
            <a:avLst>
              <a:gd name="adj" fmla="val 3846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572000" y="1828800"/>
            <a:ext cx="502920" cy="502920"/>
          </a:xfrm>
          <a:prstGeom prst="ellipse">
            <a:avLst/>
          </a:prstGeom>
          <a:solidFill>
            <a:srgbClr val="FBBF24">
              <a:alpha val="25000"/>
            </a:srgbClr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828800"/>
            <a:ext cx="548640" cy="54864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572000" y="25603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chính chaos</a:t>
            </a:r>
            <a:endParaRPr lang="en-US" sz="2200" dirty="0"/>
          </a:p>
        </p:txBody>
      </p:sp>
      <p:sp>
        <p:nvSpPr>
          <p:cNvPr id="21" name="Text 17"/>
          <p:cNvSpPr/>
          <p:nvPr/>
        </p:nvSpPr>
        <p:spPr>
          <a:xfrm>
            <a:off x="4572000" y="324612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trả USD, editor lương VND — 2 file Excel. Tỷ giá thay đổi, profit margin mơ hồ.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4572000" y="475488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BBF24">
              <a:alpha val="14000"/>
            </a:srgbClr>
          </a:solidFill>
          <a:ln w="12700">
            <a:solidFill>
              <a:srgbClr val="FBBF24">
                <a:alpha val="5000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572000" y="48006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5-10%</a:t>
            </a:r>
            <a:endParaRPr lang="en-US" sz="3000" dirty="0"/>
          </a:p>
        </p:txBody>
      </p:sp>
      <p:sp>
        <p:nvSpPr>
          <p:cNvPr id="24" name="Text 20"/>
          <p:cNvSpPr/>
          <p:nvPr/>
        </p:nvSpPr>
        <p:spPr>
          <a:xfrm>
            <a:off x="4572000" y="5257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 số payroll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8138160" y="1554480"/>
            <a:ext cx="3566160" cy="4206240"/>
          </a:xfrm>
          <a:prstGeom prst="roundRect">
            <a:avLst>
              <a:gd name="adj" fmla="val 3846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412480" y="1828800"/>
            <a:ext cx="502920" cy="502920"/>
          </a:xfrm>
          <a:prstGeom prst="ellipse">
            <a:avLst/>
          </a:prstGeom>
          <a:solidFill>
            <a:srgbClr val="FBBF24">
              <a:alpha val="25000"/>
            </a:srgbClr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41248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1828800"/>
            <a:ext cx="548640" cy="54864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8412480" y="25603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không thấy tiến độ</a:t>
            </a:r>
            <a:endParaRPr lang="en-US" sz="2200" dirty="0"/>
          </a:p>
        </p:txBody>
      </p:sp>
      <p:sp>
        <p:nvSpPr>
          <p:cNvPr id="30" name="Text 25"/>
          <p:cNvSpPr/>
          <p:nvPr/>
        </p:nvSpPr>
        <p:spPr>
          <a:xfrm>
            <a:off x="8412480" y="324612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có nơi tập trung. Rào cản ngôn ngữ Việt-Anh-Trung. Admin reply DM hàng giờ.</a:t>
            </a:r>
            <a:endParaRPr lang="en-US" sz="1600" dirty="0"/>
          </a:p>
        </p:txBody>
      </p:sp>
      <p:sp>
        <p:nvSpPr>
          <p:cNvPr id="31" name="Shape 26"/>
          <p:cNvSpPr/>
          <p:nvPr/>
        </p:nvSpPr>
        <p:spPr>
          <a:xfrm>
            <a:off x="8412480" y="475488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BBF24">
              <a:alpha val="14000"/>
            </a:srgbClr>
          </a:solidFill>
          <a:ln w="12700">
            <a:solidFill>
              <a:srgbClr val="FBBF24">
                <a:alpha val="50000"/>
              </a:srgbClr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8412480" y="48006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3000" dirty="0"/>
          </a:p>
        </p:txBody>
      </p:sp>
      <p:sp>
        <p:nvSpPr>
          <p:cNvPr id="33" name="Text 28"/>
          <p:cNvSpPr/>
          <p:nvPr/>
        </p:nvSpPr>
        <p:spPr>
          <a:xfrm>
            <a:off x="8412480" y="5257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nhắn ≥1 lần/tuần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chuyện của HÀNG NGÀN agency video editing Việt Nam.</a:t>
            </a:r>
            <a:endParaRPr lang="en-US" sz="1700" dirty="0"/>
          </a:p>
        </p:txBody>
      </p:sp>
      <p:sp>
        <p:nvSpPr>
          <p:cNvPr id="35" name="Text 30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HustlyTasker · EXE101</a:t>
            </a:r>
            <a:endParaRPr lang="en-US" sz="1200" dirty="0"/>
          </a:p>
        </p:txBody>
      </p:sp>
      <p:sp>
        <p:nvSpPr>
          <p:cNvPr id="36" name="Text 31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486400" cy="457200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5029200"/>
            <a:ext cx="4572000" cy="3657600"/>
          </a:xfrm>
          <a:prstGeom prst="ellipse">
            <a:avLst/>
          </a:prstGeom>
          <a:solidFill>
            <a:srgbClr val="D946EF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HustlyTasker — Nền tảng SaaS chuyên biệt cho Video Agency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73152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1645920"/>
            <a:ext cx="10332720" cy="1463040"/>
          </a:xfrm>
          <a:prstGeom prst="roundRect">
            <a:avLst>
              <a:gd name="adj" fmla="val 9375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1783080"/>
            <a:ext cx="9966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"Như Asana + Frame.io + QuickBooks gộp lại,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97280" y="2331720"/>
            <a:ext cx="9966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riêng cho Talking Head Video Editing."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3566160" cy="2651760"/>
          </a:xfrm>
          <a:prstGeom prst="roundRect">
            <a:avLst>
              <a:gd name="adj" fmla="val 5172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8B5CF6">
                <a:alpha val="30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840480"/>
            <a:ext cx="731520" cy="7315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22960" y="46634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Chuyên biệt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22960" y="5212080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+ pricing riêng cho video editing — không phải tool chung chung.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297680" y="3520440"/>
            <a:ext cx="3566160" cy="2651760"/>
          </a:xfrm>
          <a:prstGeom prst="roundRect">
            <a:avLst>
              <a:gd name="adj" fmla="val 5172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8B5CF6">
                <a:alpha val="30000"/>
              </a:srgbClr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3840480"/>
            <a:ext cx="731520" cy="7315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63440" y="46634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Dual-currency native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4663440" y="5212080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USD/VND song song, auto-payroll, profit margin real-time.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8138160" y="3520440"/>
            <a:ext cx="3566160" cy="2651760"/>
          </a:xfrm>
          <a:prstGeom prst="roundRect">
            <a:avLst>
              <a:gd name="adj" fmla="val 5172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8B5CF6">
                <a:alpha val="30000"/>
              </a:srgbClr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840480"/>
            <a:ext cx="731520" cy="7315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503920" y="46634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Multi-role visibility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8503920" y="5212080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/ Editor / Client view khác nhau, đa ngôn ngữ.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"Chúng tôi không serve tất cả — chúng tôi serve sâu cho 1 niche."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HustlyTasker · EXE101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486400" cy="457200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5029200"/>
            <a:ext cx="4572000" cy="3657600"/>
          </a:xfrm>
          <a:prstGeom prst="ellipse">
            <a:avLst/>
          </a:prstGeom>
          <a:solidFill>
            <a:srgbClr val="D946EF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thứ làm HustlyTasker khác mọi tool hiện có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73152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554480"/>
            <a:ext cx="5303520" cy="2194560"/>
          </a:xfrm>
          <a:prstGeom prst="roundRect">
            <a:avLst>
              <a:gd name="adj" fmla="val 6250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8B5CF6">
                <a:alpha val="3000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640080" cy="640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480560" y="1920240"/>
            <a:ext cx="1280160" cy="365760"/>
          </a:xfrm>
          <a:prstGeom prst="roundRect">
            <a:avLst>
              <a:gd name="adj" fmla="val 15000"/>
            </a:avLst>
          </a:prstGeom>
          <a:solidFill>
            <a:srgbClr val="8B5CF6">
              <a:alpha val="25000"/>
            </a:srgbClr>
          </a:solidFill>
          <a:ln w="6350">
            <a:solidFill>
              <a:srgbClr val="8B5CF6">
                <a:alpha val="6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480560" y="19202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737360" y="187452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Specialized Workflow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60120" y="265176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11-stage task lifecycle riêng cho video editing. Auto-detect quá hạn.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217920" y="1554480"/>
            <a:ext cx="5303520" cy="2194560"/>
          </a:xfrm>
          <a:prstGeom prst="roundRect">
            <a:avLst>
              <a:gd name="adj" fmla="val 6250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8B5CF6">
                <a:alpha val="30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874520"/>
            <a:ext cx="640080" cy="6400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10058400" y="1920240"/>
            <a:ext cx="1280160" cy="365760"/>
          </a:xfrm>
          <a:prstGeom prst="roundRect">
            <a:avLst>
              <a:gd name="adj" fmla="val 15000"/>
            </a:avLst>
          </a:prstGeom>
          <a:solidFill>
            <a:srgbClr val="8B5CF6">
              <a:alpha val="25000"/>
            </a:srgbClr>
          </a:solidFill>
          <a:ln w="6350">
            <a:solidFill>
              <a:srgbClr val="8B5CF6">
                <a:alpha val="6000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0" y="19202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7315200" y="187452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Marketplace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6537960" y="265176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 tự nhận task ưa thích. Tiết kiệm thời gian admin matching manual.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640080" y="3977640"/>
            <a:ext cx="5303520" cy="2194560"/>
          </a:xfrm>
          <a:prstGeom prst="roundRect">
            <a:avLst>
              <a:gd name="adj" fmla="val 6250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8B5CF6">
                <a:alpha val="30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297680"/>
            <a:ext cx="640080" cy="64008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480560" y="4343400"/>
            <a:ext cx="1280160" cy="365760"/>
          </a:xfrm>
          <a:prstGeom prst="roundRect">
            <a:avLst>
              <a:gd name="adj" fmla="val 15000"/>
            </a:avLst>
          </a:prstGeom>
          <a:solidFill>
            <a:srgbClr val="8B5CF6">
              <a:alpha val="25000"/>
            </a:srgbClr>
          </a:solidFill>
          <a:ln w="6350">
            <a:solidFill>
              <a:srgbClr val="8B5CF6">
                <a:alpha val="60000"/>
              </a:srgbClr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480560" y="43434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Differentiated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1737360" y="429768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Automation</a:t>
            </a:r>
            <a:endParaRPr lang="en-US" sz="2200" dirty="0"/>
          </a:p>
        </p:txBody>
      </p:sp>
      <p:sp>
        <p:nvSpPr>
          <p:cNvPr id="23" name="Text 18"/>
          <p:cNvSpPr/>
          <p:nvPr/>
        </p:nvSpPr>
        <p:spPr>
          <a:xfrm>
            <a:off x="960120" y="507492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batch task creation. Tự phân loại, tự tính giá, tự gán editor.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6217920" y="3977640"/>
            <a:ext cx="5303520" cy="2194560"/>
          </a:xfrm>
          <a:prstGeom prst="roundRect">
            <a:avLst>
              <a:gd name="adj" fmla="val 6250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8B5CF6">
                <a:alpha val="30000"/>
              </a:srgbClr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4297680"/>
            <a:ext cx="640080" cy="640080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10058400" y="4343400"/>
            <a:ext cx="1280160" cy="365760"/>
          </a:xfrm>
          <a:prstGeom prst="roundRect">
            <a:avLst>
              <a:gd name="adj" fmla="val 15000"/>
            </a:avLst>
          </a:prstGeom>
          <a:solidFill>
            <a:srgbClr val="8B5CF6">
              <a:alpha val="25000"/>
            </a:srgbClr>
          </a:solidFill>
          <a:ln w="6350">
            <a:solidFill>
              <a:srgbClr val="8B5CF6">
                <a:alpha val="60000"/>
              </a:srgbClr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10058400" y="43434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7315200" y="429768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Finance</a:t>
            </a:r>
            <a:endParaRPr lang="en-US" sz="2200" dirty="0"/>
          </a:p>
        </p:txBody>
      </p:sp>
      <p:sp>
        <p:nvSpPr>
          <p:cNvPr id="29" name="Text 23"/>
          <p:cNvSpPr/>
          <p:nvPr/>
        </p:nvSpPr>
        <p:spPr>
          <a:xfrm>
            <a:off x="6537960" y="507492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dual-currency + auto-payroll. Không cần plugin trả phí thêm.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cái này gộp lại + niche focus = MOAT</a:t>
            </a:r>
            <a:endParaRPr lang="en-US" sz="1800" dirty="0"/>
          </a:p>
        </p:txBody>
      </p:sp>
      <p:sp>
        <p:nvSpPr>
          <p:cNvPr id="31" name="Text 25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HustlyTasker · EXE101</a:t>
            </a:r>
            <a:endParaRPr lang="en-US" sz="1200" dirty="0"/>
          </a:p>
        </p:txBody>
      </p:sp>
      <p:sp>
        <p:nvSpPr>
          <p:cNvPr id="32" name="Text 26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486400" cy="457200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5029200"/>
            <a:ext cx="4572000" cy="3657600"/>
          </a:xfrm>
          <a:prstGeom prst="ellipse">
            <a:avLst/>
          </a:prstGeom>
          <a:solidFill>
            <a:srgbClr val="D946EF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Thị trường lớn cỡ nào?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/ SAM / SOM analysis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024128"/>
            <a:ext cx="73152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7" name="Shape 5"/>
          <p:cNvSpPr/>
          <p:nvPr/>
        </p:nvSpPr>
        <p:spPr>
          <a:xfrm>
            <a:off x="1554480" y="1463040"/>
            <a:ext cx="5120640" cy="5120640"/>
          </a:xfrm>
          <a:prstGeom prst="ellipse">
            <a:avLst/>
          </a:prstGeom>
          <a:solidFill>
            <a:srgbClr val="8B5CF6">
              <a:alpha val="12000"/>
            </a:srgbClr>
          </a:solidFill>
          <a:ln w="19050">
            <a:solidFill>
              <a:srgbClr val="8B5CF6">
                <a:alpha val="6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77440" y="2286000"/>
            <a:ext cx="3474720" cy="3474720"/>
          </a:xfrm>
          <a:prstGeom prst="ellipse">
            <a:avLst/>
          </a:prstGeom>
          <a:solidFill>
            <a:srgbClr val="8B5CF6">
              <a:alpha val="22000"/>
            </a:srgbClr>
          </a:solidFill>
          <a:ln w="19050">
            <a:solidFill>
              <a:srgbClr val="C4B5FD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3108960"/>
            <a:ext cx="1828800" cy="1828800"/>
          </a:xfrm>
          <a:prstGeom prst="ellipse">
            <a:avLst/>
          </a:prstGeom>
          <a:solidFill>
            <a:srgbClr val="6EE7B7">
              <a:alpha val="40000"/>
            </a:srgbClr>
          </a:solidFill>
          <a:ln w="19050">
            <a:solidFill>
              <a:srgbClr val="6EE7B7">
                <a:alpha val="8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45920" y="15544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400" kern="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468880" y="23774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spc="400" kern="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0" y="36576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74720" y="402336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$15M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7772400" y="1554480"/>
            <a:ext cx="3931920" cy="4754880"/>
          </a:xfrm>
          <a:prstGeom prst="roundRect">
            <a:avLst>
              <a:gd name="adj" fmla="val 3488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0" y="17373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046720" y="210312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$4.3B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8046720" y="269748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Video Editing Software (2024)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046720" y="32004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46720" y="356616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$150M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8046720" y="41605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Talking head editing agencies in SEA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46720" y="46634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046720" y="50292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$15M</a:t>
            </a:r>
            <a:endParaRPr lang="en-US" sz="3800" dirty="0"/>
          </a:p>
        </p:txBody>
      </p:sp>
      <p:sp>
        <p:nvSpPr>
          <p:cNvPr id="23" name="Text 21"/>
          <p:cNvSpPr/>
          <p:nvPr/>
        </p:nvSpPr>
        <p:spPr>
          <a:xfrm>
            <a:off x="8046720" y="562356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 agencies phục vụ client quốc tế (Y1)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nhưng KHÔNG nhỏ — 1% market share = $1.5M MRR potential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Grand View Research, Statista 2024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HustlyTasker · EXE101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486400" cy="457200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5029200"/>
            <a:ext cx="4572000" cy="3657600"/>
          </a:xfrm>
          <a:prstGeom prst="ellipse">
            <a:avLst/>
          </a:prstGeom>
          <a:solidFill>
            <a:srgbClr val="D946EF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Chúng tôi serve ai? — 3 personas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73152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554480"/>
            <a:ext cx="3566160" cy="4206240"/>
          </a:xfrm>
          <a:prstGeom prst="roundRect">
            <a:avLst>
              <a:gd name="adj" fmla="val 3846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37360" y="1828800"/>
            <a:ext cx="1005840" cy="1005840"/>
          </a:xfrm>
          <a:prstGeom prst="ellipse">
            <a:avLst/>
          </a:prstGeom>
          <a:solidFill>
            <a:srgbClr val="8B5CF6">
              <a:alpha val="30000"/>
            </a:srgbClr>
          </a:solidFill>
          <a:ln w="31750">
            <a:solidFill>
              <a:srgbClr val="8B5CF6">
                <a:alpha val="80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20" y="1965960"/>
            <a:ext cx="731520" cy="7315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29718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 Hùng, 32 tuổi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31520" y="33832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Chủ agency video editing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85800" y="379476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"40+ giờ/tháng cho admin việc thay vì grow business."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77240" y="48006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 lý 50+ task/tháng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 lương 10 editor chính xác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22960" y="5212080"/>
            <a:ext cx="2834640" cy="411480"/>
          </a:xfrm>
          <a:prstGeom prst="roundRect">
            <a:avLst>
              <a:gd name="adj" fmla="val 13333"/>
            </a:avLst>
          </a:prstGeom>
          <a:solidFill>
            <a:srgbClr val="8B5CF6">
              <a:alpha val="22000"/>
            </a:srgbClr>
          </a:solidFill>
          <a:ln w="12700">
            <a:solidFill>
              <a:srgbClr val="8B5CF6">
                <a:alpha val="70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521208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$29/mo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7680" y="1554480"/>
            <a:ext cx="3566160" cy="4206240"/>
          </a:xfrm>
          <a:prstGeom prst="roundRect">
            <a:avLst>
              <a:gd name="adj" fmla="val 3846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C4B5FD">
                <a:alpha val="30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577840" y="1828800"/>
            <a:ext cx="1005840" cy="1005840"/>
          </a:xfrm>
          <a:prstGeom prst="ellipse">
            <a:avLst/>
          </a:prstGeom>
          <a:solidFill>
            <a:srgbClr val="C4B5FD">
              <a:alpha val="30000"/>
            </a:srgbClr>
          </a:solidFill>
          <a:ln w="31750">
            <a:solidFill>
              <a:srgbClr val="C4B5FD">
                <a:alpha val="80000"/>
              </a:srgbClr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965960"/>
            <a:ext cx="731520" cy="7315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0" y="29718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Bạn Linh, 24 tuổi</a:t>
            </a:r>
            <a:endParaRPr lang="en-US" sz="2000" dirty="0"/>
          </a:p>
        </p:txBody>
      </p:sp>
      <p:sp>
        <p:nvSpPr>
          <p:cNvPr id="19" name="Text 15"/>
          <p:cNvSpPr/>
          <p:nvPr/>
        </p:nvSpPr>
        <p:spPr>
          <a:xfrm>
            <a:off x="4572000" y="33832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 editor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4526280" y="379476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"Muốn pick task mình giỏi, lương rõ ràng."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617720" y="48006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nhận task phù hợp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lương real-time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4663440" y="5212080"/>
            <a:ext cx="2834640" cy="411480"/>
          </a:xfrm>
          <a:prstGeom prst="roundRect">
            <a:avLst>
              <a:gd name="adj" fmla="val 13333"/>
            </a:avLst>
          </a:prstGeom>
          <a:solidFill>
            <a:srgbClr val="C4B5FD">
              <a:alpha val="22000"/>
            </a:srgbClr>
          </a:solidFill>
          <a:ln w="12700">
            <a:solidFill>
              <a:srgbClr val="C4B5FD">
                <a:alpha val="7000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663440" y="521208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Pro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8138160" y="1554480"/>
            <a:ext cx="3566160" cy="4206240"/>
          </a:xfrm>
          <a:prstGeom prst="roundRect">
            <a:avLst>
              <a:gd name="adj" fmla="val 3846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6EE7B7">
                <a:alpha val="3000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9418320" y="1828800"/>
            <a:ext cx="1005840" cy="1005840"/>
          </a:xfrm>
          <a:prstGeom prst="ellipse">
            <a:avLst/>
          </a:prstGeom>
          <a:solidFill>
            <a:srgbClr val="6EE7B7">
              <a:alpha val="30000"/>
            </a:srgbClr>
          </a:solidFill>
          <a:ln w="31750">
            <a:solidFill>
              <a:srgbClr val="6EE7B7">
                <a:alpha val="80000"/>
              </a:srgbClr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1965960"/>
            <a:ext cx="731520" cy="73152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8412480" y="29718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Mark, 28 tuổi</a:t>
            </a:r>
            <a:endParaRPr lang="en-US" sz="2000" dirty="0"/>
          </a:p>
        </p:txBody>
      </p:sp>
      <p:sp>
        <p:nvSpPr>
          <p:cNvPr id="28" name="Text 23"/>
          <p:cNvSpPr/>
          <p:nvPr/>
        </p:nvSpPr>
        <p:spPr>
          <a:xfrm>
            <a:off x="8412480" y="33832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YouTuber 500K subs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8366760" y="379476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"See progress without sending DMs everyday."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8458200" y="48006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progress view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 portal</a:t>
            </a:r>
            <a:endParaRPr lang="en-US" sz="1300" dirty="0"/>
          </a:p>
        </p:txBody>
      </p:sp>
      <p:sp>
        <p:nvSpPr>
          <p:cNvPr id="31" name="Shape 26"/>
          <p:cNvSpPr/>
          <p:nvPr/>
        </p:nvSpPr>
        <p:spPr>
          <a:xfrm>
            <a:off x="8503920" y="5212080"/>
            <a:ext cx="2834640" cy="411480"/>
          </a:xfrm>
          <a:prstGeom prst="roundRect">
            <a:avLst>
              <a:gd name="adj" fmla="val 13333"/>
            </a:avLst>
          </a:prstGeom>
          <a:solidFill>
            <a:srgbClr val="6EE7B7">
              <a:alpha val="22000"/>
            </a:srgbClr>
          </a:solidFill>
          <a:ln w="12700">
            <a:solidFill>
              <a:srgbClr val="6EE7B7">
                <a:alpha val="70000"/>
              </a:srgbClr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8503920" y="521208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via Portal</a:t>
            </a:r>
            <a:endParaRPr lang="en-US" sz="1400" dirty="0"/>
          </a:p>
        </p:txBody>
      </p:sp>
      <p:sp>
        <p:nvSpPr>
          <p:cNvPr id="33" name="Text 28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Khác Trello/Asana — chúng tôi serve cả 3 personas trên 1 platform.</a:t>
            </a:r>
            <a:endParaRPr lang="en-US" sz="1700" dirty="0"/>
          </a:p>
        </p:txBody>
      </p:sp>
      <p:sp>
        <p:nvSpPr>
          <p:cNvPr id="34" name="Text 29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HustlyTasker · EXE101</a:t>
            </a:r>
            <a:endParaRPr lang="en-US" sz="1200" dirty="0"/>
          </a:p>
        </p:txBody>
      </p:sp>
      <p:sp>
        <p:nvSpPr>
          <p:cNvPr id="35" name="Text 30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486400" cy="457200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5029200"/>
            <a:ext cx="4572000" cy="3657600"/>
          </a:xfrm>
          <a:prstGeom prst="ellipse">
            <a:avLst/>
          </a:prstGeom>
          <a:solidFill>
            <a:srgbClr val="D946EF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Tại sao là chúng tôi? Tại sao là LÚC NÀY?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73152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554480"/>
            <a:ext cx="5394960" cy="3931920"/>
          </a:xfrm>
          <a:prstGeom prst="roundRect">
            <a:avLst>
              <a:gd name="adj" fmla="val 3488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8B5CF6">
                <a:alpha val="3000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82880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— Market Timing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22960" y="2606040"/>
            <a:ext cx="4663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Shorts + TikTok boom — demand talking head edit tăng 200% từ 2022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top YouTubers/Podcasters dùng talking head format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 agency phục vụ client US/UK/AU với lợi thế chi phí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126480" y="1554480"/>
            <a:ext cx="5394960" cy="3931920"/>
          </a:xfrm>
          <a:prstGeom prst="roundRect">
            <a:avLst>
              <a:gd name="adj" fmla="val 3488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8B5CF6">
                <a:alpha val="30000"/>
              </a:srgbClr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086600" y="182880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US — Our Edge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6492240" y="2606040"/>
            <a:ext cx="4663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team có lived experience trong video editing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đã có — MVP đang chạy với agency thật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advantage — đi sâu 1 ngành, không phân tâm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457200" y="5715000"/>
            <a:ext cx="11247120" cy="914400"/>
          </a:xfrm>
          <a:prstGeom prst="roundRect">
            <a:avLst>
              <a:gd name="adj" fmla="val 15000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6EE7B7">
                <a:alpha val="7000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57200" y="5760720"/>
            <a:ext cx="16870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4200" dirty="0"/>
          </a:p>
        </p:txBody>
      </p:sp>
      <p:sp>
        <p:nvSpPr>
          <p:cNvPr id="16" name="Text 12"/>
          <p:cNvSpPr/>
          <p:nvPr/>
        </p:nvSpPr>
        <p:spPr>
          <a:xfrm>
            <a:off x="2256739" y="5760720"/>
            <a:ext cx="1874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agency thực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4206240" y="5760720"/>
            <a:ext cx="16870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23+</a:t>
            </a:r>
            <a:endParaRPr lang="en-US" sz="4200" dirty="0"/>
          </a:p>
        </p:txBody>
      </p:sp>
      <p:sp>
        <p:nvSpPr>
          <p:cNvPr id="18" name="Text 14"/>
          <p:cNvSpPr/>
          <p:nvPr/>
        </p:nvSpPr>
        <p:spPr>
          <a:xfrm>
            <a:off x="6005779" y="5760720"/>
            <a:ext cx="1874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active</a:t>
            </a:r>
            <a:endParaRPr lang="en-US" sz="1700" dirty="0"/>
          </a:p>
        </p:txBody>
      </p:sp>
      <p:sp>
        <p:nvSpPr>
          <p:cNvPr id="19" name="Text 15"/>
          <p:cNvSpPr/>
          <p:nvPr/>
        </p:nvSpPr>
        <p:spPr>
          <a:xfrm>
            <a:off x="7955280" y="5760720"/>
            <a:ext cx="16870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35+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9754819" y="5760720"/>
            <a:ext cx="1874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workspaces</a:t>
            </a:r>
            <a:endParaRPr lang="en-US" sz="1700" dirty="0"/>
          </a:p>
        </p:txBody>
      </p:sp>
      <p:sp>
        <p:nvSpPr>
          <p:cNvPr id="21" name="Text 17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HustlyTasker · EXE101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486400" cy="457200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5029200"/>
            <a:ext cx="4572000" cy="3657600"/>
          </a:xfrm>
          <a:prstGeom prst="ellipse">
            <a:avLst/>
          </a:prstGeom>
          <a:solidFill>
            <a:srgbClr val="D946EF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Doanh thu đến từ đâu? — 5 nguồn doanh thu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73152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461772" y="1463040"/>
            <a:ext cx="3611880" cy="2240280"/>
          </a:xfrm>
          <a:prstGeom prst="roundRect">
            <a:avLst>
              <a:gd name="adj" fmla="val 6122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0372" y="1691640"/>
            <a:ext cx="548640" cy="5486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610612" y="164592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376172" y="1691640"/>
            <a:ext cx="1325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Subscription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6092" y="237744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Phí thuê bao tháng/năm. Recurring revenue chính.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6092" y="3246120"/>
            <a:ext cx="1463040" cy="329184"/>
          </a:xfrm>
          <a:prstGeom prst="roundRect">
            <a:avLst>
              <a:gd name="adj" fmla="val 13889"/>
            </a:avLst>
          </a:prstGeom>
          <a:solidFill>
            <a:srgbClr val="8B5CF6">
              <a:alpha val="22000"/>
            </a:srgbClr>
          </a:solidFill>
          <a:ln w="7620">
            <a:solidFill>
              <a:srgbClr val="8B5CF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6092" y="324612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74820" y="1463040"/>
            <a:ext cx="3611880" cy="2240280"/>
          </a:xfrm>
          <a:prstGeom prst="roundRect">
            <a:avLst>
              <a:gd name="adj" fmla="val 6122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FBBF24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03420" y="1691640"/>
            <a:ext cx="548640" cy="548640"/>
          </a:xfrm>
          <a:prstGeom prst="ellipse">
            <a:avLst/>
          </a:prstGeom>
          <a:solidFill>
            <a:srgbClr val="FBBF24">
              <a:alpha val="30000"/>
            </a:srgbClr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03420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23660" y="164592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5189220" y="1691640"/>
            <a:ext cx="1325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Add-ons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49140" y="237744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analytics, custom reports, advanced forecasting.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49140" y="3246120"/>
            <a:ext cx="1463040" cy="329184"/>
          </a:xfrm>
          <a:prstGeom prst="roundRect">
            <a:avLst>
              <a:gd name="adj" fmla="val 13889"/>
            </a:avLst>
          </a:prstGeom>
          <a:solidFill>
            <a:srgbClr val="FBBF24">
              <a:alpha val="22000"/>
            </a:srgbClr>
          </a:solidFill>
          <a:ln w="7620">
            <a:solidFill>
              <a:srgbClr val="FBBF24">
                <a:alpha val="6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49140" y="324612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Upsell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87868" y="1463040"/>
            <a:ext cx="3611880" cy="2240280"/>
          </a:xfrm>
          <a:prstGeom prst="roundRect">
            <a:avLst>
              <a:gd name="adj" fmla="val 6122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C4B5FD">
                <a:alpha val="3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16468" y="1691640"/>
            <a:ext cx="548640" cy="548640"/>
          </a:xfrm>
          <a:prstGeom prst="ellipse">
            <a:avLst/>
          </a:prstGeom>
          <a:solidFill>
            <a:srgbClr val="C4B5FD">
              <a:alpha val="30000"/>
            </a:srgbClr>
          </a:solidFill>
          <a:ln w="19050">
            <a:solidFill>
              <a:srgbClr val="C4B5F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16468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236708" y="164592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9002268" y="1691640"/>
            <a:ext cx="1325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Fee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362188" y="237744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trăm nhỏ trên task cross-agency (future).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362188" y="3246120"/>
            <a:ext cx="1463040" cy="329184"/>
          </a:xfrm>
          <a:prstGeom prst="roundRect">
            <a:avLst>
              <a:gd name="adj" fmla="val 13889"/>
            </a:avLst>
          </a:prstGeom>
          <a:solidFill>
            <a:srgbClr val="C4B5FD">
              <a:alpha val="22000"/>
            </a:srgbClr>
          </a:solidFill>
          <a:ln w="7620">
            <a:solidFill>
              <a:srgbClr val="C4B5FD">
                <a:alpha val="6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62188" y="324612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Transactional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368296" y="3840480"/>
            <a:ext cx="3611880" cy="2240280"/>
          </a:xfrm>
          <a:prstGeom prst="roundRect">
            <a:avLst>
              <a:gd name="adj" fmla="val 6122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6EE7B7">
                <a:alpha val="3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96896" y="4069080"/>
            <a:ext cx="548640" cy="548640"/>
          </a:xfrm>
          <a:prstGeom prst="ellipse">
            <a:avLst/>
          </a:prstGeom>
          <a:solidFill>
            <a:srgbClr val="6EE7B7">
              <a:alpha val="30000"/>
            </a:srgbClr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96896" y="4069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4517136" y="402336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~7%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3282696" y="4069080"/>
            <a:ext cx="1325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/ White-label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2642616" y="475488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Rebrand HustlyTasker. Dedicated CSM, SLA.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642616" y="5623560"/>
            <a:ext cx="1463040" cy="329184"/>
          </a:xfrm>
          <a:prstGeom prst="roundRect">
            <a:avLst>
              <a:gd name="adj" fmla="val 13889"/>
            </a:avLst>
          </a:prstGeom>
          <a:solidFill>
            <a:srgbClr val="6EE7B7">
              <a:alpha val="22000"/>
            </a:srgbClr>
          </a:solidFill>
          <a:ln w="7620">
            <a:solidFill>
              <a:srgbClr val="6EE7B7">
                <a:alpha val="6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42616" y="56235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181344" y="3840480"/>
            <a:ext cx="3611880" cy="2240280"/>
          </a:xfrm>
          <a:prstGeom prst="roundRect">
            <a:avLst>
              <a:gd name="adj" fmla="val 6122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D946EF">
                <a:alpha val="3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9944" y="4069080"/>
            <a:ext cx="548640" cy="548640"/>
          </a:xfrm>
          <a:prstGeom prst="ellipse">
            <a:avLst/>
          </a:prstGeom>
          <a:solidFill>
            <a:srgbClr val="D946EF">
              <a:alpha val="30000"/>
            </a:srgbClr>
          </a:solidFill>
          <a:ln w="19050">
            <a:solidFill>
              <a:srgbClr val="D946E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9944" y="4069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8330184" y="402336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D94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~3%</a:t>
            </a:r>
            <a:endParaRPr lang="en-US" sz="2800" dirty="0"/>
          </a:p>
        </p:txBody>
      </p:sp>
      <p:sp>
        <p:nvSpPr>
          <p:cNvPr id="42" name="Text 40"/>
          <p:cNvSpPr/>
          <p:nvPr/>
        </p:nvSpPr>
        <p:spPr>
          <a:xfrm>
            <a:off x="7095744" y="4069080"/>
            <a:ext cx="1325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/ Integration Tier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6455664" y="475488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automation trên platform. Tiered pricing.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455664" y="5623560"/>
            <a:ext cx="1463040" cy="329184"/>
          </a:xfrm>
          <a:prstGeom prst="roundRect">
            <a:avLst>
              <a:gd name="adj" fmla="val 13889"/>
            </a:avLst>
          </a:prstGeom>
          <a:solidFill>
            <a:srgbClr val="D946EF">
              <a:alpha val="22000"/>
            </a:srgbClr>
          </a:solidFill>
          <a:ln w="7620">
            <a:solidFill>
              <a:srgbClr val="D946EF">
                <a:alpha val="6000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55664" y="56235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(60%) + 4 streams = sustainable + multi-lever growth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HustlyTasker · EXE101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486400" cy="457200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5029200"/>
            <a:ext cx="4572000" cy="3657600"/>
          </a:xfrm>
          <a:prstGeom prst="ellipse">
            <a:avLst/>
          </a:prstGeom>
          <a:solidFill>
            <a:srgbClr val="D946EF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gói pricing — Freemium model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73152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417320"/>
            <a:ext cx="3566160" cy="4572000"/>
          </a:xfrm>
          <a:prstGeom prst="roundRect">
            <a:avLst>
              <a:gd name="adj" fmla="val 3846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D4D4D8">
                <a:alpha val="4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916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D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31520" y="22402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testing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60604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pPr algn="ctr" indent="0" marL="0">
              <a:buNone/>
            </a:pPr>
            <a:r>
              <a:rPr lang="en-US" sz="16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/tháng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731520" y="352044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workspace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members max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management basic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Single-language portal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5166360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D4D4D8">
              <a:alpha val="35000"/>
            </a:srgbClr>
          </a:solidFill>
          <a:ln w="12700">
            <a:solidFill>
              <a:srgbClr val="D4D4D8">
                <a:alpha val="8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51663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D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free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5715000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adoption + viral growth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97680" y="1280160"/>
            <a:ext cx="3566160" cy="4846320"/>
          </a:xfrm>
          <a:prstGeom prst="roundRect">
            <a:avLst>
              <a:gd name="adj" fmla="val 3846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8B5CF6">
                <a:alpha val="8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83480" y="105156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4983480" y="10515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MOST POPULAR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0" y="16459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572000" y="21945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growing agencies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0" y="25603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</a:t>
            </a:r>
            <a:pPr algn="ctr" indent="0" marL="0">
              <a:buNone/>
            </a:pPr>
            <a:r>
              <a:rPr lang="en-US" sz="16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/tháng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4572000" y="347472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workspaces + members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Finance + Payroll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 portal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+ Analytics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Automation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663440" y="5440680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8B5CF6">
              <a:alpha val="85000"/>
            </a:srgbClr>
          </a:solidFill>
          <a:ln w="12700">
            <a:solidFill>
              <a:srgbClr val="8B5CF6">
                <a:alpha val="8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54406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14-day trial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0" y="5989320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Agency 5-50 editors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38160" y="1417320"/>
            <a:ext cx="3566160" cy="4572000"/>
          </a:xfrm>
          <a:prstGeom prst="roundRect">
            <a:avLst>
              <a:gd name="adj" fmla="val 3846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6EE7B7">
                <a:alpha val="4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12480" y="16916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8412480" y="22402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scale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412480" y="260604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pPr algn="ctr" indent="0" marL="0">
              <a:buNone/>
            </a:pPr>
            <a:endParaRPr lang="en-US" sz="4800" dirty="0"/>
          </a:p>
        </p:txBody>
      </p:sp>
      <p:sp>
        <p:nvSpPr>
          <p:cNvPr id="28" name="Text 26"/>
          <p:cNvSpPr/>
          <p:nvPr/>
        </p:nvSpPr>
        <p:spPr>
          <a:xfrm>
            <a:off x="8412480" y="352044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Pro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 branding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integration tier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CSM + SLA 99.9%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feature requests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503920" y="5166360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6EE7B7">
              <a:alpha val="35000"/>
            </a:srgbClr>
          </a:solidFill>
          <a:ln w="12700">
            <a:solidFill>
              <a:srgbClr val="6EE7B7">
                <a:alpha val="8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03920" y="51663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sales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412480" y="5715000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Agency 50+ editors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flat $29/agency — KHÔNG per-user như Trello/Asana ($5-30/user).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HustlyTasker · EXE101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486400" cy="457200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5029200"/>
            <a:ext cx="4572000" cy="3657600"/>
          </a:xfrm>
          <a:prstGeom prst="ellipse">
            <a:avLst/>
          </a:prstGeom>
          <a:solidFill>
            <a:srgbClr val="D946EF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Lộ trình doanh thu 3 năm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projection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024128"/>
            <a:ext cx="73152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554480"/>
            <a:ext cx="3566160" cy="3840480"/>
          </a:xfrm>
          <a:prstGeom prst="roundRect">
            <a:avLst>
              <a:gd name="adj" fmla="val 3846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C4B5FD">
                <a:alpha val="7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8288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3317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$2.9K</a:t>
            </a:r>
            <a:endParaRPr lang="en-US" sz="6800" dirty="0"/>
          </a:p>
        </p:txBody>
      </p:sp>
      <p:sp>
        <p:nvSpPr>
          <p:cNvPr id="10" name="Text 8"/>
          <p:cNvSpPr/>
          <p:nvPr/>
        </p:nvSpPr>
        <p:spPr>
          <a:xfrm>
            <a:off x="640080" y="35661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39776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→ Pro conversion focus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4526280"/>
            <a:ext cx="2834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1000+ signups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Pro customers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 Enterprise prospects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 rot="5400000">
            <a:off x="4069080" y="3310128"/>
            <a:ext cx="201168" cy="329184"/>
          </a:xfrm>
          <a:prstGeom prst="rightTriangle">
            <a:avLst/>
          </a:prstGeom>
          <a:solidFill>
            <a:srgbClr val="8B5CF6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4297680" y="1554480"/>
            <a:ext cx="3566160" cy="3840480"/>
          </a:xfrm>
          <a:prstGeom prst="roundRect">
            <a:avLst>
              <a:gd name="adj" fmla="val 3846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8B5CF6">
                <a:alpha val="7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18288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480560" y="23317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$15K</a:t>
            </a:r>
            <a:endParaRPr lang="en-US" sz="6800" dirty="0"/>
          </a:p>
        </p:txBody>
      </p:sp>
      <p:sp>
        <p:nvSpPr>
          <p:cNvPr id="17" name="Text 15"/>
          <p:cNvSpPr/>
          <p:nvPr/>
        </p:nvSpPr>
        <p:spPr>
          <a:xfrm>
            <a:off x="4480560" y="35661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0" y="39776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fee activates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663440" y="4526280"/>
            <a:ext cx="2834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active Pro subs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Enterprise deals (5-10)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launched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 rot="5400000">
            <a:off x="7909560" y="3310128"/>
            <a:ext cx="201168" cy="329184"/>
          </a:xfrm>
          <a:prstGeom prst="rightTriangle">
            <a:avLst/>
          </a:prstGeom>
          <a:solidFill>
            <a:srgbClr val="8B5CF6">
              <a:alpha val="6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8138160" y="1554480"/>
            <a:ext cx="3566160" cy="3840480"/>
          </a:xfrm>
          <a:prstGeom prst="roundRect">
            <a:avLst>
              <a:gd name="adj" fmla="val 3846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6EE7B7">
                <a:alpha val="7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0" y="18288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21040" y="23317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$50K+</a:t>
            </a:r>
            <a:endParaRPr lang="en-US" sz="6800" dirty="0"/>
          </a:p>
        </p:txBody>
      </p:sp>
      <p:sp>
        <p:nvSpPr>
          <p:cNvPr id="24" name="Text 22"/>
          <p:cNvSpPr/>
          <p:nvPr/>
        </p:nvSpPr>
        <p:spPr>
          <a:xfrm>
            <a:off x="8321040" y="35661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412480" y="39776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tier + Enterprise mature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503920" y="4526280"/>
            <a:ext cx="2834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1500+ Pro customers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Enterprise active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tier live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59436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4D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projection dựa trên benchmarks SaaS B2B niche (LTV/CAC 5:1 industry standard).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4D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launch chính thức — đây là target, không phải actuals.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HustlyTasker · EXE101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486400" cy="457200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5029200"/>
            <a:ext cx="4572000" cy="3657600"/>
          </a:xfrm>
          <a:prstGeom prst="ellipse">
            <a:avLst/>
          </a:prstGeom>
          <a:solidFill>
            <a:srgbClr val="D946EF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có ai làm chưa? Chúng tôi khác gì?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731520" cy="54864"/>
          </a:xfrm>
          <a:prstGeom prst="rect">
            <a:avLst/>
          </a:prstGeom>
          <a:solidFill>
            <a:srgbClr val="8B5CF6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4206240"/>
        </p:xfrm>
        <a:graphic>
          <a:graphicData uri="http://schemas.openxmlformats.org/drawingml/2006/table">
            <a:tbl>
              <a:tblPr/>
              <a:tblGrid>
                <a:gridCol w="2743200"/>
                <a:gridCol w="2103120"/>
                <a:gridCol w="2103120"/>
                <a:gridCol w="2103120"/>
                <a:gridCol w="219456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4B5F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Tiêu chí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E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4B5F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Trello / Asana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E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4B5F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Monday.com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E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4B5F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Frame.io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E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HustlyTasker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for video editing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4F4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Chung chung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4F4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Chung chung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4F4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Review 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EE7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Niche talking head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0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Dual-currency native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4F4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4F4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4F4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EE7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USD/VND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0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Multi-role portal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4F4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Basic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4F4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Basic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4F4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Read-only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EE7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4-tier RBAC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0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Marketplace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4F4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4F4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4F4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EE7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Unique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0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 automation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4F4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4F4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Add-on (paid)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4F4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Limited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EE7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Built-in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0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Multi-language client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4F4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4F4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Setting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4F4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EE7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5 ngôn ngữ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0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 per agency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4F4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$5-30/user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4F4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$8-24/user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4F4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$15+/user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EE7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 unlimited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2A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01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5943600"/>
            <a:ext cx="11247120" cy="868680"/>
          </a:xfrm>
          <a:prstGeom prst="roundRect">
            <a:avLst>
              <a:gd name="adj" fmla="val 15789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8B5CF6">
                <a:alpha val="70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598932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Trello/Asana = chung chung. Frame.io = review tool. HustlyTasker = end-to-end cho niche talking head.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HustlyTasker · EXE101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486400" cy="457200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5029200"/>
            <a:ext cx="4572000" cy="3657600"/>
          </a:xfrm>
          <a:prstGeom prst="ellipse">
            <a:avLst/>
          </a:prstGeom>
          <a:solidFill>
            <a:srgbClr val="D946EF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2880360" y="228600"/>
            <a:ext cx="6400800" cy="6400800"/>
          </a:xfrm>
          <a:prstGeom prst="ellipse">
            <a:avLst/>
          </a:prstGeom>
          <a:solidFill>
            <a:srgbClr val="8B5CF6">
              <a:alpha val="1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54864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800" kern="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AMBITION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11247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Trở thành OS cho mọi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11247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Agency Đông Nam Á</a:t>
            </a:r>
            <a:endParaRPr lang="en-US" sz="6000" dirty="0"/>
          </a:p>
        </p:txBody>
      </p:sp>
      <p:sp>
        <p:nvSpPr>
          <p:cNvPr id="8" name="Shape 6"/>
          <p:cNvSpPr/>
          <p:nvPr/>
        </p:nvSpPr>
        <p:spPr>
          <a:xfrm>
            <a:off x="457200" y="3657600"/>
            <a:ext cx="3566160" cy="1600200"/>
          </a:xfrm>
          <a:prstGeom prst="roundRect">
            <a:avLst>
              <a:gd name="adj" fmla="val 8571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8B5CF6">
                <a:alpha val="7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8404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400" kern="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Q4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420624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beta launch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40080" y="4754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agency · 500 editors active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3657600"/>
            <a:ext cx="3566160" cy="1600200"/>
          </a:xfrm>
          <a:prstGeom prst="roundRect">
            <a:avLst>
              <a:gd name="adj" fmla="val 8571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8B5CF6">
                <a:alpha val="7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38404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400" kern="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Q4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80560" y="420624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$50K MRR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480560" y="4754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agency · expand SEA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38160" y="3657600"/>
            <a:ext cx="3566160" cy="1600200"/>
          </a:xfrm>
          <a:prstGeom prst="roundRect">
            <a:avLst>
              <a:gd name="adj" fmla="val 8571"/>
            </a:avLst>
          </a:prstGeom>
          <a:solidFill>
            <a:srgbClr val="1C1727">
              <a:alpha val="70000"/>
            </a:srgbClr>
          </a:solidFill>
          <a:ln w="9525">
            <a:solidFill>
              <a:srgbClr val="8B5CF6">
                <a:alpha val="7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38404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400" kern="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21040" y="420624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 leader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321040" y="4754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4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countries · Enterprise mature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5577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4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hỏi &amp; Thảo luận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4D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HustlyTasker · contact@hustlytasker.xyz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HustlyTasker — Startup Pitch</dc:title>
  <dc:subject>EXE101 Pitch Deck</dc:subject>
  <dc:creator>HustlyTasker Team</dc:creator>
  <cp:lastModifiedBy>HustlyTasker Team</cp:lastModifiedBy>
  <cp:revision>1</cp:revision>
  <dcterms:created xsi:type="dcterms:W3CDTF">2026-05-24T15:44:06Z</dcterms:created>
  <dcterms:modified xsi:type="dcterms:W3CDTF">2026-05-24T15:44:06Z</dcterms:modified>
</cp:coreProperties>
</file>